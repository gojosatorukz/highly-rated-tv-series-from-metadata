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ad37535db344e2e" /><Relationship Type="http://schemas.openxmlformats.org/officeDocument/2006/relationships/extended-properties" Target="/docProps/app.xml" Id="Rf27d1f22cdf64558" /><Relationship Type="http://schemas.openxmlformats.org/officeDocument/2006/relationships/officeDocument" Target="/ppt/presentation.xml" Id="R2ea49ef6717a44cd" /></Relationships>
</file>

<file path=ppt/presentation.xml><?xml version="1.0" encoding="utf-8"?>
<p:presentation xmlns:p="http://schemas.openxmlformats.org/presentationml/2006/main">
  <p:sldMasterIdLst>
    <p:sldMasterId xmlns:r="http://schemas.openxmlformats.org/officeDocument/2006/relationships" id="2147483648" r:id="R707b41ff32c7481b"/>
  </p:sldMasterIdLst>
  <p:notesMasterIdLst>
    <p:notesMasterId xmlns:r="http://schemas.openxmlformats.org/officeDocument/2006/relationships" r:id="R281d2e7280ed4318"/>
  </p:notesMasterIdLst>
  <p:sldIdLst>
    <p:sldId xmlns:r="http://schemas.openxmlformats.org/officeDocument/2006/relationships" id="256" r:id="Ra0e728e21403422c"/>
    <p:sldId xmlns:r="http://schemas.openxmlformats.org/officeDocument/2006/relationships" id="257" r:id="Rd5dcd7ca12f1498c"/>
    <p:sldId xmlns:r="http://schemas.openxmlformats.org/officeDocument/2006/relationships" id="258" r:id="Rfd43dbe629d64da7"/>
    <p:sldId xmlns:r="http://schemas.openxmlformats.org/officeDocument/2006/relationships" id="259" r:id="R14fd0be9bc5c4e53"/>
    <p:sldId xmlns:r="http://schemas.openxmlformats.org/officeDocument/2006/relationships" id="260" r:id="R62bc54f231fe4bcc"/>
    <p:sldId xmlns:r="http://schemas.openxmlformats.org/officeDocument/2006/relationships" id="261" r:id="R560eb313fd024ad1"/>
    <p:sldId xmlns:r="http://schemas.openxmlformats.org/officeDocument/2006/relationships" id="262" r:id="Rf9a939114f1643e6"/>
    <p:sldId xmlns:r="http://schemas.openxmlformats.org/officeDocument/2006/relationships" id="263" r:id="R58af4914f03242ae"/>
    <p:sldId xmlns:r="http://schemas.openxmlformats.org/officeDocument/2006/relationships" id="264" r:id="R176d703b00da41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94710d27f3543f3" /><Relationship Type="http://schemas.openxmlformats.org/officeDocument/2006/relationships/slideMaster" Target="/ppt/slideMasters/slideMaster1.xml" Id="R707b41ff32c7481b" /><Relationship Type="http://schemas.openxmlformats.org/officeDocument/2006/relationships/notesMaster" Target="/ppt/notesMasters/notesMaster1.xml" Id="R281d2e7280ed4318" /><Relationship Type="http://schemas.openxmlformats.org/officeDocument/2006/relationships/presProps" Target="/ppt/presProps.xml" Id="Rfab82bf437bb4feb" /><Relationship Type="http://schemas.openxmlformats.org/officeDocument/2006/relationships/tableStyles" Target="/ppt/tableStyles.xml" Id="Rb26d7f19cee94a93" /><Relationship Type="http://schemas.openxmlformats.org/officeDocument/2006/relationships/slide" Target="/ppt/slides/slide1.xml" Id="Ra0e728e21403422c" /><Relationship Type="http://schemas.openxmlformats.org/officeDocument/2006/relationships/slide" Target="/ppt/slides/slide2.xml" Id="Rd5dcd7ca12f1498c" /><Relationship Type="http://schemas.openxmlformats.org/officeDocument/2006/relationships/slide" Target="/ppt/slides/slide3.xml" Id="Rfd43dbe629d64da7" /><Relationship Type="http://schemas.openxmlformats.org/officeDocument/2006/relationships/slide" Target="/ppt/slides/slide4.xml" Id="R14fd0be9bc5c4e53" /><Relationship Type="http://schemas.openxmlformats.org/officeDocument/2006/relationships/slide" Target="/ppt/slides/slide5.xml" Id="R62bc54f231fe4bcc" /><Relationship Type="http://schemas.openxmlformats.org/officeDocument/2006/relationships/slide" Target="/ppt/slides/slide6.xml" Id="R560eb313fd024ad1" /><Relationship Type="http://schemas.openxmlformats.org/officeDocument/2006/relationships/slide" Target="/ppt/slides/slide7.xml" Id="Rf9a939114f1643e6" /><Relationship Type="http://schemas.openxmlformats.org/officeDocument/2006/relationships/slide" Target="/ppt/slides/slide8.xml" Id="R58af4914f03242ae" /><Relationship Type="http://schemas.openxmlformats.org/officeDocument/2006/relationships/slide" Target="/ppt/slides/slide9.xml" Id="R176d703b00da41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6cd057c4b54b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aea061e4ee4b81" /><Relationship Type="http://schemas.openxmlformats.org/officeDocument/2006/relationships/notesMaster" Target="/ppt/notesMasters/notesMaster1.xml" Id="R3930696fd32f48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3b08df15e24037" /><Relationship Type="http://schemas.openxmlformats.org/officeDocument/2006/relationships/notesMaster" Target="/ppt/notesMasters/notesMaster1.xml" Id="Rb39106612c0d4c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6caeab97b748f2" /><Relationship Type="http://schemas.openxmlformats.org/officeDocument/2006/relationships/notesMaster" Target="/ppt/notesMasters/notesMaster1.xml" Id="R97aae5402eaf42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12ccaae8e5d41a9" /><Relationship Type="http://schemas.openxmlformats.org/officeDocument/2006/relationships/notesMaster" Target="/ppt/notesMasters/notesMaster1.xml" Id="Rc730170e7b7e4d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eebafc9af54b58" /><Relationship Type="http://schemas.openxmlformats.org/officeDocument/2006/relationships/notesMaster" Target="/ppt/notesMasters/notesMaster1.xml" Id="R28655615fae149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dfa0c8f9054e6a" /><Relationship Type="http://schemas.openxmlformats.org/officeDocument/2006/relationships/notesMaster" Target="/ppt/notesMasters/notesMaster1.xml" Id="R7bb48e2668e04e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591a8f5e6241a4" /><Relationship Type="http://schemas.openxmlformats.org/officeDocument/2006/relationships/notesMaster" Target="/ppt/notesMasters/notesMaster1.xml" Id="Rf62176cd321e4e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3db272655f4737" /><Relationship Type="http://schemas.openxmlformats.org/officeDocument/2006/relationships/notesMaster" Target="/ppt/notesMasters/notesMaster1.xml" Id="R9ed36956841342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3db4be7f0645d3" /><Relationship Type="http://schemas.openxmlformats.org/officeDocument/2006/relationships/notesMaster" Target="/ppt/notesMasters/notesMaster1.xml" Id="R0d95520187ac4c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Gapar. Time: 45 seconds. Introduce the project question and both participants. We investigate whether metadata can identify high-rated English-language scripted series. Eight out of ten is the registered target threshold, not a project grade. Explain that this is a catalogue classification experiment. We evaluate on existing rated shows, so future popularity and unrated shows require separate validation. Cover poster: https://www.tvmaze.com/shows/169/breaking-bad; image URL: https://static.tvmaze.com/uploads/images/original_untouched/501/1253519.jpg. The poster is illustrative and does not represent measured model performance.</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Bekzat. Time: 70 seconds. Describe our collection script and dated raw JSON. We collected fixed pages 0 through 59 before comparing models. The API provides at most 250 rows per page and missing/deleted IDs reduce that total. Cleaning removes non-English shows, non-scripted formats and unknown ratings. All 2,339 eligible rows already have text, so the later Final comparison can reuse the exact cohort. We preserve response timestamps and SHA-256 hashes. We checked the website robots file, the absent API robots file and the explicit public API licensing terms. Cite TVmaze, as the teacher requested. The dataset represents a finite early-index cohort and may overrepresent older rated shows.</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Gapar. Time: 70 seconds. Explain that exploration uses training data only. The chart compares high-rated shares among the six most common training genres. All genres with at least 30 training observations appear in the notebook summary. Genre memberships overlap, so they are not independent groups and no causal claim follows. The notebook also shows class balance and runtime/missingness plots. Only around 17% of the cohort are high-rated, which motivates stratified splitting and minority-class F1. The runtime distributions overlap. We therefore use several metadata fields, train-fitted median imputation, missing indicators and numeric scaling for KNN and SVM. The genre encoder learns its vocabulary inside each training fold.</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Bekzat. Time: 65 seconds. Explain the fixed train/test split and saved series IDs. We compare two dummy references and three Week 3-4 classifiers. The majority model predicts the common class. The stratified dummy samples according to training class frequencies. The tree has depth and leaf restrictions to reduce overfitting. KNN uses 15 neighbours and scaled numeric inputs. The SVM uses an RBF kernel with standard regularisation and balanced weights. We predeclared all settings. Every cross-validation fold fits its own imputer, encoder, genre vocabulary and scaler. Nothing fits on test rows. We select the main model using mean training CV F1 before evaluating the test set. F1 focuses on the high-rated class because accuracy alone can reward missing every positive show.</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Bekzat. Time: 70 seconds. Read the table by task purpose, not by accuracy. CV values include the sample standard deviation across five folds. SVM wins on mean training CV F1, 0.389 with SD 0.017, so we freeze its selection before test evaluation. Its held-out F1 is 0.340 and ROC-AUC 0.643. The stratified dummy test F1 is 0.150. This is a measurable improvement, but performance remains modest. KNN has relatively high precision and low recall at its default decision threshold. The majority baseline gets about 82.7% test accuracy yet F1 and recall of zero. That example explains why accuracy is not our primary metric. We do not select settings or a different winner from the test table.</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Bekzat. Time: 65 seconds. The confusion-matrix rows are true classes and columns are model predictions. The SVM retrieves 41 of 81 high-rated shows and misses 40. It predicts high rating for 119 below-threshold shows. Precision is 41 divided by 160, or 25.6%; recall is 41 divided by 81, or 50.6%. The examples are actual held-out rows. Touching Evil and The Prisoner are false positives. Community and Rules of Engagement are false negatives. Their familiar genre and runtime patterns cannot describe writing, acting or audience preferences. This is an explanation hypothesis, not a proven cause of each error. The API has no vote counts, so score reliability is unknown. Real example source URLs: https://www.tvmaze.com/shows/2024/touching-evil, https://www.tvmaze.com/shows/471/the-prisoner, https://www.tvmaze.com/shows/318/community, https://www.tvmaze.com/shows/720/rules-of-engagement</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Gapar. Time: 65 seconds. Answer the question in plain language. Structured metadata contain some ranking information, and the SVM improves minority-class F1 over the chance baseline. However, precision is low, so a viewer should treat any shortlist as exploratory. Our data selection includes only rated English scripted series and may favour older shows. The ratings come from one site and have unknown vote counts. A rating of 7.9 and one of 8.0 create opposite labels even though the difference is small. Current channel fields may not describe the premiere context. Related franchises can share information across a random split. We therefore cannot claim causal effects or validated future success. These concrete limits guide the next stages.</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Bekzat. Time: 65 seconds. Relate each planned technique to an observed weakness rather than saying we will try more models. Random Forest and Gradient Boosting may model feature interactions better; tuning and any threshold choices use training folds only. PCA and K-Means provide an unsupervised view of metadata segments, which can help understand uneven errors. The neural-network baseline will be small and regularised because the dataset has only 404 positives. Learning curves can expose overfitting. For the Final we add the retained plot text as a second information source and compare against metadata-only on the exact same frozen test IDs. A local application and report complete that stage. We preserve this dated raw snapshot, cleaned labels, and split files. Later teacher briefs may add requirements.</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Gapar. Time: 50 seconds. State the division of responsibility that Bekzat confirmed. Bekzat handles collection/source checks, modelling, results and error analysis. Gapar handles data preparation and exploration, plus presentation preparation and delivery. Both partners need to understand the whole workflow because the teacher can ask either partner about any part. Explain AI assistance transparently: Codex assisted with the implementation, experiments, calculations, notebook, slide drafting and checks. This slide records review and defense responsibilities rather than a claim that each person independently authored all code. The complete disclosure and reproducible source files accompany the submission.</a:t>
            </a:r>
          </a:p>
          <a:p xmlns:a="http://schemas.openxmlformats.org/drawingml/2006/main">
            <a:r>
              <a:t/>
            </a:r>
          </a:p>
          <a:p xmlns:a="http://schemas.openxmlformats.org/drawingml/2006/main">
            <a:r>
              <a:t>Data source: TVmaze, https://www.tvmaze.com. API: https://www.tvmaze.com/api. Data license: CC BY-SA 4.0, https://creativecommons.org/licenses/by-sa/4.0/. Experimental evidence: results/midterm/experiment_summary.json and model_comparison.csv. Collection: 2026-10-06.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c3134688c6436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1529f78890041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4a340451aa4d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accf93f7db74c7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1c3beac6264b1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57e4fe14eae43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CBC780-0B3B-4B86-AF57-22F366D5251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B4810C-DFA4-4C23-97C1-3352D64EDA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7406B8-ACAC-477E-9DCF-DF8596D737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0F3022-ACC3-4665-9990-ACD8475ED5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02268E-F732-40E2-8468-719A514643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877CCA1-B875-4457-A4CC-9D26A0CB31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20974F-8E55-4F8B-AE44-0390C97505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B4A1B4D-EF88-47D2-BE34-15081CE35A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DB7349-A6CA-47C7-BBC4-975DC3D0A1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114BEFF-097C-40B5-9270-86C4344966E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1891e77b964746" /><Relationship Type="http://schemas.openxmlformats.org/officeDocument/2006/relationships/slideLayout" Target="/ppt/slideLayouts/slideLayout1.xml" Id="R79246da4ac754185" /><Relationship Type="http://schemas.openxmlformats.org/officeDocument/2006/relationships/slideLayout" Target="/ppt/slideLayouts/slideLayout2.xml" Id="R5ec44984068c4b2f" /><Relationship Type="http://schemas.openxmlformats.org/officeDocument/2006/relationships/slideLayout" Target="/ppt/slideLayouts/slideLayout3.xml" Id="R5d63b24ee1674221" /><Relationship Type="http://schemas.openxmlformats.org/officeDocument/2006/relationships/slideLayout" Target="/ppt/slideLayouts/slideLayout4.xml" Id="Rb098462293684b5f" /><Relationship Type="http://schemas.openxmlformats.org/officeDocument/2006/relationships/slideLayout" Target="/ppt/slideLayouts/slideLayout5.xml" Id="R51b576c4468a43d0" /><Relationship Type="http://schemas.openxmlformats.org/officeDocument/2006/relationships/slideLayout" Target="/ppt/slideLayouts/slideLayout6.xml" Id="Rec56cb7236f54f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246da4ac754185"/>
    <p:sldLayoutId xmlns:r="http://schemas.openxmlformats.org/officeDocument/2006/relationships" id="2147483650" r:id="R5ec44984068c4b2f"/>
    <p:sldLayoutId xmlns:r="http://schemas.openxmlformats.org/officeDocument/2006/relationships" id="2147483651" r:id="R5d63b24ee1674221"/>
    <p:sldLayoutId xmlns:r="http://schemas.openxmlformats.org/officeDocument/2006/relationships" id="2147483652" r:id="Rb098462293684b5f"/>
    <p:sldLayoutId xmlns:r="http://schemas.openxmlformats.org/officeDocument/2006/relationships" id="2147483653" r:id="R51b576c4468a43d0"/>
    <p:sldLayoutId xmlns:r="http://schemas.openxmlformats.org/officeDocument/2006/relationships" id="2147483654" r:id="Rec56cb7236f54f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80d536b2874a41" /><Relationship Type="http://schemas.openxmlformats.org/officeDocument/2006/relationships/image" Target="/ppt/media/image.jpeg" Id="R315067699d8f48eb" /><Relationship Type="http://schemas.openxmlformats.org/officeDocument/2006/relationships/notesSlide" Target="/ppt/notesSlides/notesSlide1.xml" Id="Rc4ed73301ffa48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fb10bdc5344ca2" /><Relationship Type="http://schemas.openxmlformats.org/officeDocument/2006/relationships/notesSlide" Target="/ppt/notesSlides/notesSlide2.xml" Id="R6e85977ddb5b42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79d8cec6844587" /><Relationship Type="http://schemas.openxmlformats.org/officeDocument/2006/relationships/chart" Target="/ppt/slides/charts/chart1.xml" Id="Rb1ebc95fc26c4aa1" /><Relationship Type="http://schemas.openxmlformats.org/officeDocument/2006/relationships/notesSlide" Target="/ppt/notesSlides/notesSlide3.xml" Id="Ra7507351d20048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5a74e26d2e439c" /><Relationship Type="http://schemas.openxmlformats.org/officeDocument/2006/relationships/notesSlide" Target="/ppt/notesSlides/notesSlide4.xml" Id="Rde95c21a195841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8eb39c80bf44a4e" /><Relationship Type="http://schemas.openxmlformats.org/officeDocument/2006/relationships/notesSlide" Target="/ppt/notesSlides/notesSlide5.xml" Id="Recd8dcabd72642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f3e03a5a458451a" /><Relationship Type="http://schemas.openxmlformats.org/officeDocument/2006/relationships/notesSlide" Target="/ppt/notesSlides/notesSlide6.xml" Id="R584d27af247a43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a746a31a1174439" /><Relationship Type="http://schemas.openxmlformats.org/officeDocument/2006/relationships/notesSlide" Target="/ppt/notesSlides/notesSlide7.xml" Id="Rac00cfb92e55401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573cf7a8d754a58" /><Relationship Type="http://schemas.openxmlformats.org/officeDocument/2006/relationships/notesSlide" Target="/ppt/notesSlides/notesSlide8.xml" Id="R51ed5d7e3f7047a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026142e97744591" /><Relationship Type="http://schemas.openxmlformats.org/officeDocument/2006/relationships/notesSlide" Target="/ppt/notesSlides/notesSlide9.xml" Id="Re29ce6256758432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High-rated share</c:v>
          </c:tx>
          <c:spPr>
            <a:solidFill xmlns:a="http://schemas.openxmlformats.org/drawingml/2006/main">
              <a:srgbClr val="146C94"/>
            </a:solidFill>
          </c:spPr>
          <c:cat>
            <c:strRef>
              <c:f>'Chart Data'!$A$2:$A$7</c:f>
              <c:strCache>
                <c:ptCount val="6"/>
                <c:pt idx="0">
                  <c:v>Drama</c:v>
                </c:pt>
                <c:pt idx="1">
                  <c:v>Comedy</c:v>
                </c:pt>
                <c:pt idx="2">
                  <c:v>Crime</c:v>
                </c:pt>
                <c:pt idx="3">
                  <c:v>Action</c:v>
                </c:pt>
                <c:pt idx="4">
                  <c:v>Sci-Fi</c:v>
                </c:pt>
                <c:pt idx="5">
                  <c:v>Adventure</c:v>
                </c:pt>
              </c:strCache>
            </c:strRef>
          </c:cat>
          <c:val>
            <c:numRef>
              <c:f>'Chart Data'!$B$2:$B$7</c:f>
              <c:numCache>
                <c:formatCode>0%</c:formatCode>
                <c:ptCount val="6"/>
                <c:pt idx="0">
                  <c:v>0.195652</c:v>
                </c:pt>
                <c:pt idx="1">
                  <c:v>0.129888</c:v>
                </c:pt>
                <c:pt idx="2">
                  <c:v>0.234483</c:v>
                </c:pt>
                <c:pt idx="3">
                  <c:v>0.1875</c:v>
                </c:pt>
                <c:pt idx="4">
                  <c:v>0.223684</c:v>
                </c:pt>
                <c:pt idx="5">
                  <c:v>0.171271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latin typeface="Helvetica Neue"/>
                  <a:ea typeface="Helvetica Neue"/>
                  <a:cs typeface="Helvetica Neue"/>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72768"/>
      </c:catAx>
      <c:valAx>
        <c:axId val="48672768"/>
        <c:scaling>
          <c:orientation val="minMax"/>
          <c:max val="0.3"/>
          <c:min val="0"/>
        </c:scaling>
        <c:delete val="0"/>
        <c:axPos val="l"/>
        <c:majorGridlines>
          <c:spPr>
            <a:ln xmlns:a="http://schemas.openxmlformats.org/drawingml/2006/main" w="9525">
              <a:solidFill>
                <a:srgbClr val="D8E2E7"/>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High-rated share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ck-title">
            <a:extLst xmlns:a="http://schemas.openxmlformats.org/drawingml/2006/main">
              <a:ext uri="{FF2B5EF4-FFF2-40B4-BE49-F238E27FC236}">
                <a16:creationId xmlns:a16="http://schemas.microsoft.com/office/drawing/2014/main" id="{0530556A-21F3-4B93-93AD-8BE374CA3EA1}"/>
              </a:ext>
            </a:extLst>
          </p:cNvPr>
          <p:cNvSpPr>
            <a:spLocks xmlns:a="http://schemas.openxmlformats.org/drawingml/2006/main" noGrp="1"/>
          </p:cNvSpPr>
          <p:nvPr/>
        </p:nvSpPr>
        <p:spPr>
          <a:xfrm xmlns:a="http://schemas.openxmlformats.org/drawingml/2006/main">
            <a:off x="609600" y="1143000"/>
            <a:ext cx="7000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950" b="1">
                <a:solidFill>
                  <a:srgbClr val="18333E"/>
                </a:solidFill>
                <a:latin typeface="Helvetica Neue"/>
                <a:ea typeface="Helvetica Neue"/>
                <a:cs typeface="Helvetica Neue"/>
              </a:defRPr>
            </a:defPPr>
          </a:lstStyle>
          <a:p xmlns:a="http://schemas.openxmlformats.org/drawingml/2006/main">
            <a:pPr>
              <a:defRPr sz="4950" b="1">
                <a:solidFill>
                  <a:srgbClr val="18333E"/>
                </a:solidFill>
                <a:latin typeface="Helvetica Neue"/>
                <a:ea typeface="Helvetica Neue"/>
                <a:cs typeface="Helvetica Neue"/>
              </a:defRPr>
            </a:pPr>
            <a:r>
              <a:rPr sz="4950" b="1">
                <a:solidFill>
                  <a:srgbClr val="18333E"/>
                </a:solidFill>
                <a:latin typeface="Helvetica Neue"/>
                <a:ea typeface="Helvetica Neue"/>
                <a:cs typeface="Helvetica Neue"/>
              </a:rPr>
              <a:t>Highly rated</a:t>
            </a:r>
          </a:p>
          <a:p xmlns:a="http://schemas.openxmlformats.org/drawingml/2006/main">
            <a:pPr>
              <a:defRPr sz="4950" b="1">
                <a:solidFill>
                  <a:srgbClr val="18333E"/>
                </a:solidFill>
                <a:latin typeface="Helvetica Neue"/>
                <a:ea typeface="Helvetica Neue"/>
                <a:cs typeface="Helvetica Neue"/>
              </a:defRPr>
            </a:pPr>
            <a:r>
              <a:rPr sz="4950" b="1">
                <a:solidFill>
                  <a:srgbClr val="18333E"/>
                </a:solidFill>
                <a:latin typeface="Helvetica Neue"/>
                <a:ea typeface="Helvetica Neue"/>
                <a:cs typeface="Helvetica Neue"/>
              </a:rPr>
              <a:t>TV series</a:t>
            </a:r>
          </a:p>
        </p:txBody>
      </p:sp>
      <p:sp>
        <p:nvSpPr>
          <p:cNvPr id="2" name="">
            <a:extLst xmlns:a="http://schemas.openxmlformats.org/drawingml/2006/main">
              <a:ext uri="{FF2B5EF4-FFF2-40B4-BE49-F238E27FC236}">
                <a16:creationId xmlns:a16="http://schemas.microsoft.com/office/drawing/2014/main" id="{1CC7B2B5-AE02-4E3F-B23D-EFE786B3CC0E}"/>
              </a:ext>
            </a:extLst>
          </p:cNvPr>
          <p:cNvSpPr>
            <a:spLocks xmlns:a="http://schemas.openxmlformats.org/drawingml/2006/main" noGrp="1"/>
          </p:cNvSpPr>
          <p:nvPr/>
        </p:nvSpPr>
        <p:spPr>
          <a:xfrm xmlns:a="http://schemas.openxmlformats.org/drawingml/2006/main">
            <a:off x="628650" y="3219450"/>
            <a:ext cx="6619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253C47"/>
                </a:solidFill>
                <a:latin typeface="Helvetica Neue"/>
                <a:ea typeface="Helvetica Neue"/>
                <a:cs typeface="Helvetica Neue"/>
              </a:defRPr>
            </a:defPPr>
          </a:lstStyle>
          <a:p xmlns:a="http://schemas.openxmlformats.org/drawingml/2006/main">
            <a:pPr>
              <a:defRPr sz="2400" b="0">
                <a:solidFill>
                  <a:srgbClr val="253C47"/>
                </a:solidFill>
                <a:latin typeface="Helvetica Neue"/>
                <a:ea typeface="Helvetica Neue"/>
                <a:cs typeface="Helvetica Neue"/>
              </a:defRPr>
            </a:pPr>
            <a:r>
              <a:rPr sz="2400" b="0">
                <a:solidFill>
                  <a:srgbClr val="253C47"/>
                </a:solidFill>
                <a:latin typeface="Helvetica Neue"/>
                <a:ea typeface="Helvetica Neue"/>
                <a:cs typeface="Helvetica Neue"/>
              </a:rPr>
              <a:t>Predicting ratings of at least 8/10</a:t>
            </a:r>
          </a:p>
          <a:p xmlns:a="http://schemas.openxmlformats.org/drawingml/2006/main">
            <a:pPr>
              <a:defRPr sz="2400" b="0">
                <a:solidFill>
                  <a:srgbClr val="253C47"/>
                </a:solidFill>
                <a:latin typeface="Helvetica Neue"/>
                <a:ea typeface="Helvetica Neue"/>
                <a:cs typeface="Helvetica Neue"/>
              </a:defRPr>
            </a:pPr>
            <a:r>
              <a:rPr sz="2400" b="0">
                <a:solidFill>
                  <a:srgbClr val="253C47"/>
                </a:solidFill>
                <a:latin typeface="Helvetica Neue"/>
                <a:ea typeface="Helvetica Neue"/>
                <a:cs typeface="Helvetica Neue"/>
              </a:rPr>
              <a:t>from structured metadata</a:t>
            </a:r>
          </a:p>
        </p:txBody>
      </p:sp>
      <p:sp>
        <p:nvSpPr>
          <p:cNvPr id="3" name="">
            <a:extLst xmlns:a="http://schemas.openxmlformats.org/drawingml/2006/main">
              <a:ext uri="{FF2B5EF4-FFF2-40B4-BE49-F238E27FC236}">
                <a16:creationId xmlns:a16="http://schemas.microsoft.com/office/drawing/2014/main" id="{D6132E8F-4FE9-4CF1-9208-658CFE4FF7AB}"/>
              </a:ext>
            </a:extLst>
          </p:cNvPr>
          <p:cNvSpPr>
            <a:spLocks xmlns:a="http://schemas.openxmlformats.org/drawingml/2006/main" noGrp="1"/>
          </p:cNvSpPr>
          <p:nvPr/>
        </p:nvSpPr>
        <p:spPr>
          <a:xfrm xmlns:a="http://schemas.openxmlformats.org/drawingml/2006/main">
            <a:off x="628650" y="4648200"/>
            <a:ext cx="695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53C47"/>
                </a:solidFill>
                <a:latin typeface="Helvetica Neue"/>
                <a:ea typeface="Helvetica Neue"/>
                <a:cs typeface="Helvetica Neue"/>
              </a:defRPr>
            </a:defPPr>
          </a:lstStyle>
          <a:p xmlns:a="http://schemas.openxmlformats.org/drawingml/2006/main">
            <a:pPr>
              <a:defRPr sz="1875" b="0">
                <a:solidFill>
                  <a:srgbClr val="253C47"/>
                </a:solidFill>
                <a:latin typeface="Helvetica Neue"/>
                <a:ea typeface="Helvetica Neue"/>
                <a:cs typeface="Helvetica Neue"/>
              </a:defRPr>
            </a:pPr>
            <a:r>
              <a:rPr sz="1875" b="0">
                <a:solidFill>
                  <a:srgbClr val="253C47"/>
                </a:solidFill>
                <a:latin typeface="Helvetica Neue"/>
                <a:ea typeface="Helvetica Neue"/>
                <a:cs typeface="Helvetica Neue"/>
              </a:rPr>
              <a:t>Bekzat Rashiduly and Gapar Galym</a:t>
            </a:r>
          </a:p>
          <a:p xmlns:a="http://schemas.openxmlformats.org/drawingml/2006/main">
            <a:pPr>
              <a:defRPr sz="1875" b="0">
                <a:solidFill>
                  <a:srgbClr val="253C47"/>
                </a:solidFill>
                <a:latin typeface="Helvetica Neue"/>
                <a:ea typeface="Helvetica Neue"/>
                <a:cs typeface="Helvetica Neue"/>
              </a:defRPr>
            </a:pPr>
            <a:r>
              <a:rPr sz="1875" b="0">
                <a:solidFill>
                  <a:srgbClr val="253C47"/>
                </a:solidFill>
                <a:latin typeface="Helvetica Neue"/>
                <a:ea typeface="Helvetica Neue"/>
                <a:cs typeface="Helvetica Neue"/>
              </a:rPr>
              <a:t>SE-2418</a:t>
            </a:r>
          </a:p>
          <a:p xmlns:a="http://schemas.openxmlformats.org/drawingml/2006/main">
            <a:pPr>
              <a:defRPr sz="1875" b="0">
                <a:solidFill>
                  <a:srgbClr val="253C47"/>
                </a:solidFill>
                <a:latin typeface="Helvetica Neue"/>
                <a:ea typeface="Helvetica Neue"/>
                <a:cs typeface="Helvetica Neue"/>
              </a:defRPr>
            </a:pPr>
            <a:r>
              <a:rPr sz="1875" b="0">
                <a:solidFill>
                  <a:srgbClr val="253C47"/>
                </a:solidFill>
                <a:latin typeface="Helvetica Neue"/>
                <a:ea typeface="Helvetica Neue"/>
                <a:cs typeface="Helvetica Neue"/>
              </a:rPr>
              <a:t>Machine Learning Algorithms, Midterm</a:t>
            </a:r>
          </a:p>
        </p:txBody>
      </p:sp>
      <p:pic>
        <p:nvPicPr>
          <p:cNvPr id="4" name="">
            <a:extLst xmlns:a="http://schemas.openxmlformats.org/drawingml/2006/main">
              <a:ext uri="{FF2B5EF4-FFF2-40B4-BE49-F238E27FC236}">
                <a16:creationId xmlns:a16="http://schemas.microsoft.com/office/drawing/2014/main" id="{5223B693-2E42-42F7-92DF-6E95A01ADD27}"/>
              </a:ext>
            </a:extLst>
          </p:cNvPr>
          <p:cNvPicPr>
            <a:picLocks xmlns:a="http://schemas.openxmlformats.org/drawingml/2006/main" noChangeAspect="1"/>
          </p:cNvPicPr>
          <p:nvPr/>
        </p:nvPicPr>
        <p:blipFill>
          <a:blip xmlns:r="http://schemas.openxmlformats.org/officeDocument/2006/relationships" xmlns:a="http://schemas.openxmlformats.org/drawingml/2006/main" r:embed="R315067699d8f48eb"/>
          <a:stretch xmlns:a="http://schemas.openxmlformats.org/drawingml/2006/main"/>
        </p:blipFill>
        <p:spPr>
          <a:xfrm xmlns:a="http://schemas.openxmlformats.org/drawingml/2006/main">
            <a:off x="8220075" y="1046416"/>
            <a:ext cx="3209925" cy="462229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13080AC-38DD-479F-896F-3C9E39DA5DB9}"/>
              </a:ext>
            </a:extLst>
          </p:cNvPr>
          <p:cNvSpPr>
            <a:spLocks xmlns:a="http://schemas.openxmlformats.org/drawingml/2006/main" noGrp="1"/>
          </p:cNvSpPr>
          <p:nvPr/>
        </p:nvSpPr>
        <p:spPr>
          <a:xfrm xmlns:a="http://schemas.openxmlformats.org/drawingml/2006/main">
            <a:off x="628650" y="60960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5A6D76"/>
                </a:solidFill>
                <a:latin typeface="Helvetica Neue"/>
                <a:ea typeface="Helvetica Neue"/>
                <a:cs typeface="Helvetica Neue"/>
              </a:defRPr>
            </a:defPPr>
          </a:lstStyle>
          <a:p xmlns:a="http://schemas.openxmlformats.org/drawingml/2006/main">
            <a:pPr>
              <a:defRPr sz="1500" b="0">
                <a:solidFill>
                  <a:srgbClr val="5A6D76"/>
                </a:solidFill>
                <a:latin typeface="Helvetica Neue"/>
                <a:ea typeface="Helvetica Neue"/>
                <a:cs typeface="Helvetica Neue"/>
              </a:defRPr>
            </a:pPr>
            <a:r>
              <a:rPr sz="1500" b="0">
                <a:solidFill>
                  <a:srgbClr val="5A6D76"/>
                </a:solidFill>
                <a:latin typeface="Helvetica Neue"/>
                <a:ea typeface="Helvetica Neue"/>
                <a:cs typeface="Helvetica Neue"/>
              </a:rPr>
              <a:t>Data source: TVmaze</a:t>
            </a:r>
          </a:p>
          <a:p xmlns:a="http://schemas.openxmlformats.org/drawingml/2006/main">
            <a:pPr>
              <a:defRPr sz="1500" b="0">
                <a:solidFill>
                  <a:srgbClr val="5A6D76"/>
                </a:solidFill>
                <a:latin typeface="Helvetica Neue"/>
                <a:ea typeface="Helvetica Neue"/>
                <a:cs typeface="Helvetica Neue"/>
              </a:defRPr>
            </a:pPr>
            <a:r>
              <a:rPr sz="1500" b="0">
                <a:solidFill>
                  <a:srgbClr val="5A6D76"/>
                </a:solidFill>
                <a:latin typeface="Helvetica Neue"/>
                <a:ea typeface="Helvetica Neue"/>
                <a:cs typeface="Helvetica Neue"/>
              </a:rPr>
              <a:t>CC BY-SA 4.0</a:t>
            </a:r>
          </a:p>
        </p:txBody>
      </p:sp>
    </p:spTree>
    <p:extLst>
      <p:ext uri="{BB962C8B-B14F-4D97-AF65-F5344CB8AC3E}">
        <p14:creationId xmlns:p14="http://schemas.microsoft.com/office/powerpoint/2010/main" val="12842229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EDFF6FF-53D9-454C-88FC-2BF1DB758CE7}"/>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Data and source</a:t>
            </a:r>
          </a:p>
        </p:txBody>
      </p:sp>
      <p:sp>
        <p:nvSpPr>
          <p:cNvPr id="2" name="">
            <a:extLst xmlns:a="http://schemas.openxmlformats.org/drawingml/2006/main">
              <a:ext uri="{FF2B5EF4-FFF2-40B4-BE49-F238E27FC236}">
                <a16:creationId xmlns:a16="http://schemas.microsoft.com/office/drawing/2014/main" id="{7E10EDFC-2724-4B2D-B794-D9E89B7886EF}"/>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2</a:t>
            </a:r>
          </a:p>
        </p:txBody>
      </p:sp>
      <p:graphicFrame>
        <p:nvGraphicFramePr>
          <p:cNvPr id="3" name="">
            <a:extLst xmlns:a="http://schemas.openxmlformats.org/drawingml/2006/main">
              <a:ext uri="{FF2B5EF4-FFF2-40B4-BE49-F238E27FC236}">
                <a16:creationId xmlns:a16="http://schemas.microsoft.com/office/drawing/2014/main" id="{7230AF8B-C94C-4957-A90E-239D80F3476C}"/>
              </a:ext>
            </a:extLst>
          </p:cNvPr>
          <p:cNvGraphicFramePr/>
          <p:nvPr/>
        </p:nvGraphicFramePr>
        <p:xfrm>
          <a:off xmlns:a="http://schemas.openxmlformats.org/drawingml/2006/main" x="609600" y="1524000"/>
          <a:ext xmlns:a="http://schemas.openxmlformats.org/drawingml/2006/main" cx="5857875" cy="3429000"/>
        </p:xfrm>
        <a:graphic xmlns:a="http://schemas.openxmlformats.org/drawingml/2006/main">
          <a:graphicData uri="http://schemas.openxmlformats.org/drawingml/2006/table">
            <a:tbl>
              <a:tblPr/>
              <a:tblGrid>
                <a:gridCol w="4048125"/>
                <a:gridCol w="1809750"/>
              </a:tblGrid>
              <a:tr h="571500">
                <a:tc>
                  <a:txBody>
                    <a:bodyPr/>
                    <a:lstStyle/>
                    <a:p>
                      <a:r>
                        <a:rPr sz="1950" b="1">
                          <a:solidFill>
                            <a:srgbClr val="FFFFFF"/>
                          </a:solidFill>
                          <a:latin typeface="Helvetica Neue"/>
                          <a:ea typeface="Helvetica Neue"/>
                          <a:cs typeface="Helvetica Neue"/>
                        </a:rPr>
                        <a:t>Cohort step</a:t>
                      </a:r>
                    </a:p>
                  </a:txBody>
                  <a:tcPr marL="114300" marR="114300" marT="76200" marB="76200" anchor="ctr">
                    <a:solidFill>
                      <a:srgbClr val="18333E"/>
                    </a:solidFill>
                  </a:tcPr>
                </a:tc>
                <a:tc>
                  <a:txBody>
                    <a:bodyPr/>
                    <a:lstStyle/>
                    <a:p>
                      <a:r>
                        <a:rPr sz="1950" b="1">
                          <a:solidFill>
                            <a:srgbClr val="FFFFFF"/>
                          </a:solidFill>
                          <a:latin typeface="Helvetica Neue"/>
                          <a:ea typeface="Helvetica Neue"/>
                          <a:cs typeface="Helvetica Neue"/>
                        </a:rPr>
                        <a:t>Rows</a:t>
                      </a:r>
                    </a:p>
                  </a:txBody>
                  <a:tcPr marL="114300" marR="114300" marT="76200" marB="76200" anchor="ctr">
                    <a:solidFill>
                      <a:srgbClr val="18333E"/>
                    </a:solidFill>
                  </a:tcPr>
                </a:tc>
              </a:tr>
              <a:tr h="571500">
                <a:tc>
                  <a:txBody>
                    <a:bodyPr/>
                    <a:lstStyle/>
                    <a:p>
                      <a:r>
                        <a:rPr sz="1950">
                          <a:solidFill>
                            <a:srgbClr val="253C47"/>
                          </a:solidFill>
                          <a:latin typeface="Helvetica Neue"/>
                          <a:ea typeface="Helvetica Neue"/>
                          <a:cs typeface="Helvetica Neue"/>
                        </a:rPr>
                        <a:t>Raw API objects</a:t>
                      </a:r>
                    </a:p>
                  </a:txBody>
                  <a:tcPr marL="114300" marR="114300" marT="76200" marB="76200" anchor="ctr">
                    <a:solidFill>
                      <a:srgbClr val="FFFFFF"/>
                    </a:solidFill>
                  </a:tcPr>
                </a:tc>
                <a:tc>
                  <a:txBody>
                    <a:bodyPr/>
                    <a:lstStyle/>
                    <a:p>
                      <a:r>
                        <a:rPr sz="1950">
                          <a:solidFill>
                            <a:srgbClr val="253C47"/>
                          </a:solidFill>
                          <a:latin typeface="Helvetica Neue"/>
                          <a:ea typeface="Helvetica Neue"/>
                          <a:cs typeface="Helvetica Neue"/>
                        </a:rPr>
                        <a:t>14,055</a:t>
                      </a:r>
                    </a:p>
                  </a:txBody>
                  <a:tcPr marL="114300" marR="114300" marT="76200" marB="76200" anchor="ctr">
                    <a:solidFill>
                      <a:srgbClr val="FFFFFF"/>
                    </a:solidFill>
                  </a:tcPr>
                </a:tc>
              </a:tr>
              <a:tr h="571500">
                <a:tc>
                  <a:txBody>
                    <a:bodyPr/>
                    <a:lstStyle/>
                    <a:p>
                      <a:r>
                        <a:rPr sz="1950">
                          <a:solidFill>
                            <a:srgbClr val="253C47"/>
                          </a:solidFill>
                          <a:latin typeface="Helvetica Neue"/>
                          <a:ea typeface="Helvetica Neue"/>
                          <a:cs typeface="Helvetica Neue"/>
                        </a:rPr>
                        <a:t>English language</a:t>
                      </a:r>
                    </a:p>
                  </a:txBody>
                  <a:tcPr marL="114300" marR="114300" marT="76200" marB="76200" anchor="ctr">
                    <a:solidFill>
                      <a:srgbClr val="F0F5F7"/>
                    </a:solidFill>
                  </a:tcPr>
                </a:tc>
                <a:tc>
                  <a:txBody>
                    <a:bodyPr/>
                    <a:lstStyle/>
                    <a:p>
                      <a:r>
                        <a:rPr sz="1950">
                          <a:solidFill>
                            <a:srgbClr val="253C47"/>
                          </a:solidFill>
                          <a:latin typeface="Helvetica Neue"/>
                          <a:ea typeface="Helvetica Neue"/>
                          <a:cs typeface="Helvetica Neue"/>
                        </a:rPr>
                        <a:t>10,572</a:t>
                      </a:r>
                    </a:p>
                  </a:txBody>
                  <a:tcPr marL="114300" marR="114300" marT="76200" marB="76200" anchor="ctr">
                    <a:solidFill>
                      <a:srgbClr val="F0F5F7"/>
                    </a:solidFill>
                  </a:tcPr>
                </a:tc>
              </a:tr>
              <a:tr h="571500">
                <a:tc>
                  <a:txBody>
                    <a:bodyPr/>
                    <a:lstStyle/>
                    <a:p>
                      <a:r>
                        <a:rPr sz="1950">
                          <a:solidFill>
                            <a:srgbClr val="253C47"/>
                          </a:solidFill>
                          <a:latin typeface="Helvetica Neue"/>
                          <a:ea typeface="Helvetica Neue"/>
                          <a:cs typeface="Helvetica Neue"/>
                        </a:rPr>
                        <a:t>Scripted format</a:t>
                      </a:r>
                    </a:p>
                  </a:txBody>
                  <a:tcPr marL="114300" marR="114300" marT="76200" marB="76200" anchor="ctr">
                    <a:solidFill>
                      <a:srgbClr val="FFFFFF"/>
                    </a:solidFill>
                  </a:tcPr>
                </a:tc>
                <a:tc>
                  <a:txBody>
                    <a:bodyPr/>
                    <a:lstStyle/>
                    <a:p>
                      <a:r>
                        <a:rPr sz="1950">
                          <a:solidFill>
                            <a:srgbClr val="253C47"/>
                          </a:solidFill>
                          <a:latin typeface="Helvetica Neue"/>
                          <a:ea typeface="Helvetica Neue"/>
                          <a:cs typeface="Helvetica Neue"/>
                        </a:rPr>
                        <a:t>4,071</a:t>
                      </a:r>
                    </a:p>
                  </a:txBody>
                  <a:tcPr marL="114300" marR="114300" marT="76200" marB="76200" anchor="ctr">
                    <a:solidFill>
                      <a:srgbClr val="FFFFFF"/>
                    </a:solidFill>
                  </a:tcPr>
                </a:tc>
              </a:tr>
              <a:tr h="571500">
                <a:tc>
                  <a:txBody>
                    <a:bodyPr/>
                    <a:lstStyle/>
                    <a:p>
                      <a:r>
                        <a:rPr sz="1950">
                          <a:solidFill>
                            <a:srgbClr val="253C47"/>
                          </a:solidFill>
                          <a:latin typeface="Helvetica Neue"/>
                          <a:ea typeface="Helvetica Neue"/>
                          <a:cs typeface="Helvetica Neue"/>
                        </a:rPr>
                        <a:t>Known rating and plot text</a:t>
                      </a:r>
                    </a:p>
                  </a:txBody>
                  <a:tcPr marL="114300" marR="114300" marT="76200" marB="76200" anchor="ctr">
                    <a:solidFill>
                      <a:srgbClr val="F0F5F7"/>
                    </a:solidFill>
                  </a:tcPr>
                </a:tc>
                <a:tc>
                  <a:txBody>
                    <a:bodyPr/>
                    <a:lstStyle/>
                    <a:p>
                      <a:r>
                        <a:rPr sz="1950">
                          <a:solidFill>
                            <a:srgbClr val="253C47"/>
                          </a:solidFill>
                          <a:latin typeface="Helvetica Neue"/>
                          <a:ea typeface="Helvetica Neue"/>
                          <a:cs typeface="Helvetica Neue"/>
                        </a:rPr>
                        <a:t>2,339</a:t>
                      </a:r>
                    </a:p>
                  </a:txBody>
                  <a:tcPr marL="114300" marR="114300" marT="76200" marB="76200" anchor="ctr">
                    <a:solidFill>
                      <a:srgbClr val="F0F5F7"/>
                    </a:solidFill>
                  </a:tcPr>
                </a:tc>
              </a:tr>
              <a:tr h="571500">
                <a:tc>
                  <a:txBody>
                    <a:bodyPr/>
                    <a:lstStyle/>
                    <a:p>
                      <a:r>
                        <a:rPr sz="1950">
                          <a:solidFill>
                            <a:srgbClr val="253C47"/>
                          </a:solidFill>
                          <a:latin typeface="Helvetica Neue"/>
                          <a:ea typeface="Helvetica Neue"/>
                          <a:cs typeface="Helvetica Neue"/>
                        </a:rPr>
                        <a:t>High-rated class</a:t>
                      </a:r>
                    </a:p>
                  </a:txBody>
                  <a:tcPr marL="114300" marR="114300" marT="76200" marB="76200" anchor="ctr">
                    <a:solidFill>
                      <a:srgbClr val="FFFFFF"/>
                    </a:solidFill>
                  </a:tcPr>
                </a:tc>
                <a:tc>
                  <a:txBody>
                    <a:bodyPr/>
                    <a:lstStyle/>
                    <a:p>
                      <a:r>
                        <a:rPr sz="1950">
                          <a:solidFill>
                            <a:srgbClr val="253C47"/>
                          </a:solidFill>
                          <a:latin typeface="Helvetica Neue"/>
                          <a:ea typeface="Helvetica Neue"/>
                          <a:cs typeface="Helvetica Neue"/>
                        </a:rPr>
                        <a:t>404</a:t>
                      </a:r>
                    </a:p>
                  </a:txBody>
                  <a:tcPr marL="114300" marR="114300" marT="76200" marB="762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4815FD3-4F0B-4269-B071-47868C48B032}"/>
              </a:ext>
            </a:extLst>
          </p:cNvPr>
          <p:cNvSpPr>
            <a:spLocks xmlns:a="http://schemas.openxmlformats.org/drawingml/2006/main" noGrp="1"/>
          </p:cNvSpPr>
          <p:nvPr/>
        </p:nvSpPr>
        <p:spPr>
          <a:xfrm xmlns:a="http://schemas.openxmlformats.org/drawingml/2006/main">
            <a:off x="6981825" y="16192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53C47"/>
                </a:solidFill>
                <a:latin typeface="Helvetica Neue"/>
                <a:ea typeface="Helvetica Neue"/>
                <a:cs typeface="Helvetica Neue"/>
              </a:defRPr>
            </a:defPPr>
          </a:lstStyle>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60 fixed index pages</a:t>
            </a:r>
          </a:p>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Collection: 6 October 2026</a:t>
            </a:r>
          </a:p>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No login or API token</a:t>
            </a:r>
          </a:p>
        </p:txBody>
      </p:sp>
      <p:sp>
        <p:nvSpPr>
          <p:cNvPr id="5" name="">
            <a:extLst xmlns:a="http://schemas.openxmlformats.org/drawingml/2006/main">
              <a:ext uri="{FF2B5EF4-FFF2-40B4-BE49-F238E27FC236}">
                <a16:creationId xmlns:a16="http://schemas.microsoft.com/office/drawing/2014/main" id="{526E0C68-5812-4820-A68D-16055F4BBBEA}"/>
              </a:ext>
            </a:extLst>
          </p:cNvPr>
          <p:cNvSpPr>
            <a:spLocks xmlns:a="http://schemas.openxmlformats.org/drawingml/2006/main" noGrp="1"/>
          </p:cNvSpPr>
          <p:nvPr/>
        </p:nvSpPr>
        <p:spPr>
          <a:xfrm xmlns:a="http://schemas.openxmlformats.org/drawingml/2006/main">
            <a:off x="6981825" y="3162300"/>
            <a:ext cx="4572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53C47"/>
                </a:solidFill>
                <a:latin typeface="Helvetica Neue"/>
                <a:ea typeface="Helvetica Neue"/>
                <a:cs typeface="Helvetica Neue"/>
              </a:defRPr>
            </a:defPPr>
          </a:lstStyle>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One row per series</a:t>
            </a:r>
          </a:p>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17.3% rated at least 8/10</a:t>
            </a:r>
          </a:p>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Plot summaries kept for Final</a:t>
            </a:r>
          </a:p>
        </p:txBody>
      </p:sp>
      <p:sp>
        <p:nvSpPr>
          <p:cNvPr id="6" name="">
            <a:extLst xmlns:a="http://schemas.openxmlformats.org/drawingml/2006/main">
              <a:ext uri="{FF2B5EF4-FFF2-40B4-BE49-F238E27FC236}">
                <a16:creationId xmlns:a16="http://schemas.microsoft.com/office/drawing/2014/main" id="{1AC8C4D2-97B9-4DBD-8868-61B40C664D88}"/>
              </a:ext>
            </a:extLst>
          </p:cNvPr>
          <p:cNvSpPr>
            <a:spLocks xmlns:a="http://schemas.openxmlformats.org/drawingml/2006/main" noGrp="1"/>
          </p:cNvSpPr>
          <p:nvPr/>
        </p:nvSpPr>
        <p:spPr>
          <a:xfrm xmlns:a="http://schemas.openxmlformats.org/drawingml/2006/main">
            <a:off x="609600" y="5400675"/>
            <a:ext cx="109061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A6D76"/>
                </a:solidFill>
                <a:latin typeface="Helvetica Neue"/>
                <a:ea typeface="Helvetica Neue"/>
                <a:cs typeface="Helvetica Neue"/>
              </a:defRPr>
            </a:defPPr>
          </a:lstStyle>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Source: TVmaze public API</a:t>
            </a:r>
          </a:p>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www.tvmaze.com/api</a:t>
            </a:r>
          </a:p>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Data license: CC BY-SA 4.0</a:t>
            </a:r>
          </a:p>
        </p:txBody>
      </p:sp>
    </p:spTree>
    <p:extLst>
      <p:ext uri="{BB962C8B-B14F-4D97-AF65-F5344CB8AC3E}">
        <p14:creationId xmlns:p14="http://schemas.microsoft.com/office/powerpoint/2010/main" val="2298692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1CF94CAC-F6A2-4598-8E82-A2A9A183BA30}"/>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Training-data exploration</a:t>
            </a:r>
          </a:p>
        </p:txBody>
      </p:sp>
      <p:sp>
        <p:nvSpPr>
          <p:cNvPr id="2" name="">
            <a:extLst xmlns:a="http://schemas.openxmlformats.org/drawingml/2006/main">
              <a:ext uri="{FF2B5EF4-FFF2-40B4-BE49-F238E27FC236}">
                <a16:creationId xmlns:a16="http://schemas.microsoft.com/office/drawing/2014/main" id="{69C77704-7BF2-4854-A6FA-78402894C4C7}"/>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3</a:t>
            </a:r>
          </a:p>
        </p:txBody>
      </p:sp>
      <p:graphicFrame>
        <p:nvGraphicFramePr>
          <p:cNvPr id="3" name="Chart">
            <a:extLst xmlns:a="http://schemas.openxmlformats.org/drawingml/2006/main">
              <a:ext uri="{FF2B5EF4-FFF2-40B4-BE49-F238E27FC236}">
                <a16:creationId xmlns:a16="http://schemas.microsoft.com/office/drawing/2014/main" id="{2262DC8E-372C-4D37-ABDD-E3BB6AB5E61C}"/>
              </a:ext>
            </a:extLst>
          </p:cNvPr>
          <p:cNvGraphicFramePr/>
          <p:nvPr/>
        </p:nvGraphicFramePr>
        <p:xfrm>
          <a:off xmlns:a="http://schemas.openxmlformats.org/drawingml/2006/main" x="609600" y="1504950"/>
          <a:ext xmlns:a="http://schemas.openxmlformats.org/drawingml/2006/main" cx="6762750" cy="4019550"/>
        </p:xfrm>
        <a:graphic xmlns:a="http://schemas.openxmlformats.org/drawingml/2006/main">
          <a:graphicData uri="http://schemas.openxmlformats.org/drawingml/2006/chart">
            <c:chart xmlns:r="http://schemas.openxmlformats.org/officeDocument/2006/relationships" xmlns:c="http://schemas.openxmlformats.org/drawingml/2006/chart" r:id="Rb1ebc95fc26c4aa1"/>
          </a:graphicData>
        </a:graphic>
      </p:graphicFrame>
      <p:sp>
        <p:nvSpPr>
          <p:cNvPr id="4" name="">
            <a:extLst xmlns:a="http://schemas.openxmlformats.org/drawingml/2006/main">
              <a:ext uri="{FF2B5EF4-FFF2-40B4-BE49-F238E27FC236}">
                <a16:creationId xmlns:a16="http://schemas.microsoft.com/office/drawing/2014/main" id="{C4CC9E16-1C79-48D2-8414-057422AA252F}"/>
              </a:ext>
            </a:extLst>
          </p:cNvPr>
          <p:cNvSpPr>
            <a:spLocks xmlns:a="http://schemas.openxmlformats.org/drawingml/2006/main" noGrp="1"/>
          </p:cNvSpPr>
          <p:nvPr/>
        </p:nvSpPr>
        <p:spPr>
          <a:xfrm xmlns:a="http://schemas.openxmlformats.org/drawingml/2006/main">
            <a:off x="685800" y="56769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A6D76"/>
                </a:solidFill>
                <a:latin typeface="Helvetica Neue"/>
                <a:ea typeface="Helvetica Neue"/>
                <a:cs typeface="Helvetica Neue"/>
              </a:defRPr>
            </a:defPPr>
          </a:lstStyle>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Six most common genres</a:t>
            </a:r>
          </a:p>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Training rows only</a:t>
            </a:r>
          </a:p>
          <a:p xmlns:a="http://schemas.openxmlformats.org/drawingml/2006/main">
            <a:pPr>
              <a:defRPr sz="1800" b="0">
                <a:solidFill>
                  <a:srgbClr val="5A6D76"/>
                </a:solidFill>
                <a:latin typeface="Helvetica Neue"/>
                <a:ea typeface="Helvetica Neue"/>
                <a:cs typeface="Helvetica Neue"/>
              </a:defRPr>
            </a:pPr>
            <a:r>
              <a:rPr sz="1800" b="0">
                <a:solidFill>
                  <a:srgbClr val="5A6D76"/>
                </a:solidFill>
                <a:latin typeface="Helvetica Neue"/>
                <a:ea typeface="Helvetica Neue"/>
                <a:cs typeface="Helvetica Neue"/>
              </a:rPr>
              <a:t>A series can have several genres</a:t>
            </a:r>
          </a:p>
        </p:txBody>
      </p:sp>
      <p:sp>
        <p:nvSpPr>
          <p:cNvPr id="5" name="">
            <a:extLst xmlns:a="http://schemas.openxmlformats.org/drawingml/2006/main">
              <a:ext uri="{FF2B5EF4-FFF2-40B4-BE49-F238E27FC236}">
                <a16:creationId xmlns:a16="http://schemas.microsoft.com/office/drawing/2014/main" id="{8567E3C3-2A54-429D-B824-2E84F2DFE2EC}"/>
              </a:ext>
            </a:extLst>
          </p:cNvPr>
          <p:cNvSpPr>
            <a:spLocks xmlns:a="http://schemas.openxmlformats.org/drawingml/2006/main" noGrp="1"/>
          </p:cNvSpPr>
          <p:nvPr/>
        </p:nvSpPr>
        <p:spPr>
          <a:xfrm xmlns:a="http://schemas.openxmlformats.org/drawingml/2006/main">
            <a:off x="7753350" y="1685925"/>
            <a:ext cx="38100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53C47"/>
                </a:solidFill>
                <a:latin typeface="Helvetica Neue"/>
                <a:ea typeface="Helvetica Neue"/>
                <a:cs typeface="Helvetica Neue"/>
              </a:defRPr>
            </a:defPPr>
          </a:lstStyle>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Genre differences support</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multi-label encoding.</a:t>
            </a:r>
          </a:p>
          <a:p xmlns:a="http://schemas.openxmlformats.org/drawingml/2006/main">
            <a:r>
              <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Overlapping runtimes need</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other metadata features.</a:t>
            </a:r>
          </a:p>
          <a:p xmlns:a="http://schemas.openxmlformats.org/drawingml/2006/main">
            <a:r>
              <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Missing values need</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training-only imputation.</a:t>
            </a:r>
          </a:p>
        </p:txBody>
      </p:sp>
    </p:spTree>
    <p:extLst>
      <p:ext uri="{BB962C8B-B14F-4D97-AF65-F5344CB8AC3E}">
        <p14:creationId xmlns:p14="http://schemas.microsoft.com/office/powerpoint/2010/main" val="14050829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78DEB30-AFB2-4727-B9AF-9BECB9910C9D}"/>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Models and fair comparison</a:t>
            </a:r>
          </a:p>
        </p:txBody>
      </p:sp>
      <p:sp>
        <p:nvSpPr>
          <p:cNvPr id="2" name="">
            <a:extLst xmlns:a="http://schemas.openxmlformats.org/drawingml/2006/main">
              <a:ext uri="{FF2B5EF4-FFF2-40B4-BE49-F238E27FC236}">
                <a16:creationId xmlns:a16="http://schemas.microsoft.com/office/drawing/2014/main" id="{F2852F60-2AFE-4EDA-8740-E1096A9A6A51}"/>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4</a:t>
            </a:r>
          </a:p>
        </p:txBody>
      </p:sp>
      <p:sp>
        <p:nvSpPr>
          <p:cNvPr id="3" name="">
            <a:extLst xmlns:a="http://schemas.openxmlformats.org/drawingml/2006/main">
              <a:ext uri="{FF2B5EF4-FFF2-40B4-BE49-F238E27FC236}">
                <a16:creationId xmlns:a16="http://schemas.microsoft.com/office/drawing/2014/main" id="{D2DACF65-7BB1-4C77-A1DE-343845BCB944}"/>
              </a:ext>
            </a:extLst>
          </p:cNvPr>
          <p:cNvSpPr>
            <a:spLocks xmlns:a="http://schemas.openxmlformats.org/drawingml/2006/main" noGrp="1"/>
          </p:cNvSpPr>
          <p:nvPr/>
        </p:nvSpPr>
        <p:spPr>
          <a:xfrm xmlns:a="http://schemas.openxmlformats.org/drawingml/2006/main">
            <a:off x="609600" y="142875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53C47"/>
                </a:solidFill>
                <a:latin typeface="Helvetica Neue"/>
                <a:ea typeface="Helvetica Neue"/>
                <a:cs typeface="Helvetica Neue"/>
              </a:defRPr>
            </a:defPPr>
          </a:lstStyle>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Frozen 80/20 stratified split, seed 42</a:t>
            </a:r>
          </a:p>
          <a:p xmlns:a="http://schemas.openxmlformats.org/drawingml/2006/main">
            <a:pPr>
              <a:defRPr sz="2175" b="0">
                <a:solidFill>
                  <a:srgbClr val="253C47"/>
                </a:solidFill>
                <a:latin typeface="Helvetica Neue"/>
                <a:ea typeface="Helvetica Neue"/>
                <a:cs typeface="Helvetica Neue"/>
              </a:defRPr>
            </a:pPr>
            <a:r>
              <a:rPr sz="2175" b="0">
                <a:solidFill>
                  <a:srgbClr val="253C47"/>
                </a:solidFill>
                <a:latin typeface="Helvetica Neue"/>
                <a:ea typeface="Helvetica Neue"/>
                <a:cs typeface="Helvetica Neue"/>
              </a:rPr>
              <a:t>Five identical training folds for every model</a:t>
            </a:r>
          </a:p>
        </p:txBody>
      </p:sp>
      <p:graphicFrame>
        <p:nvGraphicFramePr>
          <p:cNvPr id="4" name="">
            <a:extLst xmlns:a="http://schemas.openxmlformats.org/drawingml/2006/main">
              <a:ext uri="{FF2B5EF4-FFF2-40B4-BE49-F238E27FC236}">
                <a16:creationId xmlns:a16="http://schemas.microsoft.com/office/drawing/2014/main" id="{3FE583A6-DFD5-4938-A6AE-31D07D188190}"/>
              </a:ext>
            </a:extLst>
          </p:cNvPr>
          <p:cNvGraphicFramePr/>
          <p:nvPr/>
        </p:nvGraphicFramePr>
        <p:xfrm>
          <a:off xmlns:a="http://schemas.openxmlformats.org/drawingml/2006/main" x="609600" y="2514600"/>
          <a:ext xmlns:a="http://schemas.openxmlformats.org/drawingml/2006/main" cx="10972800" cy="3143250"/>
        </p:xfrm>
        <a:graphic xmlns:a="http://schemas.openxmlformats.org/drawingml/2006/main">
          <a:graphicData uri="http://schemas.openxmlformats.org/drawingml/2006/table">
            <a:tbl>
              <a:tblPr/>
              <a:tblGrid>
                <a:gridCol w="2476500"/>
                <a:gridCol w="4076700"/>
                <a:gridCol w="4419600"/>
              </a:tblGrid>
              <a:tr h="628650">
                <a:tc>
                  <a:txBody>
                    <a:bodyPr/>
                    <a:lstStyle/>
                    <a:p>
                      <a:r>
                        <a:rPr sz="1875" b="1">
                          <a:solidFill>
                            <a:srgbClr val="FFFFFF"/>
                          </a:solidFill>
                          <a:latin typeface="Helvetica Neue"/>
                          <a:ea typeface="Helvetica Neue"/>
                          <a:cs typeface="Helvetica Neue"/>
                        </a:rPr>
                        <a:t>Model</a:t>
                      </a:r>
                    </a:p>
                  </a:txBody>
                  <a:tcPr marL="114300" marR="114300" marT="76200" marB="76200" anchor="ctr">
                    <a:solidFill>
                      <a:srgbClr val="18333E"/>
                    </a:solidFill>
                  </a:tcPr>
                </a:tc>
                <a:tc>
                  <a:txBody>
                    <a:bodyPr/>
                    <a:lstStyle/>
                    <a:p>
                      <a:r>
                        <a:rPr sz="1875" b="1">
                          <a:solidFill>
                            <a:srgbClr val="FFFFFF"/>
                          </a:solidFill>
                          <a:latin typeface="Helvetica Neue"/>
                          <a:ea typeface="Helvetica Neue"/>
                          <a:cs typeface="Helvetica Neue"/>
                        </a:rPr>
                        <a:t>Fixed settings</a:t>
                      </a:r>
                    </a:p>
                  </a:txBody>
                  <a:tcPr marL="114300" marR="114300" marT="76200" marB="76200" anchor="ctr">
                    <a:solidFill>
                      <a:srgbClr val="18333E"/>
                    </a:solidFill>
                  </a:tcPr>
                </a:tc>
                <a:tc>
                  <a:txBody>
                    <a:bodyPr/>
                    <a:lstStyle/>
                    <a:p>
                      <a:r>
                        <a:rPr sz="1875" b="1">
                          <a:solidFill>
                            <a:srgbClr val="FFFFFF"/>
                          </a:solidFill>
                          <a:latin typeface="Helvetica Neue"/>
                          <a:ea typeface="Helvetica Neue"/>
                          <a:cs typeface="Helvetica Neue"/>
                        </a:rPr>
                        <a:t>Purpose</a:t>
                      </a:r>
                    </a:p>
                  </a:txBody>
                  <a:tcPr marL="114300" marR="114300" marT="76200" marB="76200" anchor="ctr">
                    <a:solidFill>
                      <a:srgbClr val="18333E"/>
                    </a:solidFill>
                  </a:tcPr>
                </a:tc>
              </a:tr>
              <a:tr h="628650">
                <a:tc>
                  <a:txBody>
                    <a:bodyPr/>
                    <a:lstStyle/>
                    <a:p>
                      <a:r>
                        <a:rPr sz="1875">
                          <a:solidFill>
                            <a:srgbClr val="253C47"/>
                          </a:solidFill>
                          <a:latin typeface="Helvetica Neue"/>
                          <a:ea typeface="Helvetica Neue"/>
                          <a:cs typeface="Helvetica Neue"/>
                        </a:rPr>
                        <a:t>Dummy baselines</a:t>
                      </a:r>
                    </a:p>
                  </a:txBody>
                  <a:tcPr marL="114300" marR="114300" marT="76200" marB="76200" anchor="ctr">
                    <a:solidFill>
                      <a:srgbClr val="FFFFFF"/>
                    </a:solidFill>
                  </a:tcPr>
                </a:tc>
                <a:tc>
                  <a:txBody>
                    <a:bodyPr/>
                    <a:lstStyle/>
                    <a:p>
                      <a:r>
                        <a:rPr sz="1875">
                          <a:solidFill>
                            <a:srgbClr val="253C47"/>
                          </a:solidFill>
                          <a:latin typeface="Helvetica Neue"/>
                          <a:ea typeface="Helvetica Neue"/>
                          <a:cs typeface="Helvetica Neue"/>
                        </a:rPr>
                        <a:t>Majority and stratified</a:t>
                      </a:r>
                    </a:p>
                  </a:txBody>
                  <a:tcPr marL="114300" marR="114300" marT="76200" marB="76200" anchor="ctr">
                    <a:solidFill>
                      <a:srgbClr val="FFFFFF"/>
                    </a:solidFill>
                  </a:tcPr>
                </a:tc>
                <a:tc>
                  <a:txBody>
                    <a:bodyPr/>
                    <a:lstStyle/>
                    <a:p>
                      <a:r>
                        <a:rPr sz="1875">
                          <a:solidFill>
                            <a:srgbClr val="253C47"/>
                          </a:solidFill>
                          <a:latin typeface="Helvetica Neue"/>
                          <a:ea typeface="Helvetica Neue"/>
                          <a:cs typeface="Helvetica Neue"/>
                        </a:rPr>
                        <a:t>Accuracy and chance references</a:t>
                      </a:r>
                    </a:p>
                  </a:txBody>
                  <a:tcPr marL="114300" marR="114300" marT="76200" marB="76200" anchor="ctr">
                    <a:solidFill>
                      <a:srgbClr val="FFFFFF"/>
                    </a:solidFill>
                  </a:tcPr>
                </a:tc>
              </a:tr>
              <a:tr h="628650">
                <a:tc>
                  <a:txBody>
                    <a:bodyPr/>
                    <a:lstStyle/>
                    <a:p>
                      <a:r>
                        <a:rPr sz="1875">
                          <a:solidFill>
                            <a:srgbClr val="253C47"/>
                          </a:solidFill>
                          <a:latin typeface="Helvetica Neue"/>
                          <a:ea typeface="Helvetica Neue"/>
                          <a:cs typeface="Helvetica Neue"/>
                        </a:rPr>
                        <a:t>Decision Tree</a:t>
                      </a:r>
                    </a:p>
                  </a:txBody>
                  <a:tcPr marL="114300" marR="114300" marT="76200" marB="76200" anchor="ctr">
                    <a:solidFill>
                      <a:srgbClr val="F0F5F7"/>
                    </a:solidFill>
                  </a:tcPr>
                </a:tc>
                <a:tc>
                  <a:txBody>
                    <a:bodyPr/>
                    <a:lstStyle/>
                    <a:p>
                      <a:r>
                        <a:rPr sz="1875">
                          <a:solidFill>
                            <a:srgbClr val="253C47"/>
                          </a:solidFill>
                          <a:latin typeface="Helvetica Neue"/>
                          <a:ea typeface="Helvetica Neue"/>
                          <a:cs typeface="Helvetica Neue"/>
                        </a:rPr>
                        <a:t>Depth 6, leaf size 20</a:t>
                      </a:r>
                    </a:p>
                    <a:p>
                      <a:r>
                        <a:rPr sz="1875">
                          <a:solidFill>
                            <a:srgbClr val="253C47"/>
                          </a:solidFill>
                          <a:latin typeface="Helvetica Neue"/>
                          <a:ea typeface="Helvetica Neue"/>
                          <a:cs typeface="Helvetica Neue"/>
                        </a:rPr>
                        <a:t>Balanced class weights</a:t>
                      </a:r>
                    </a:p>
                  </a:txBody>
                  <a:tcPr marL="114300" marR="114300" marT="76200" marB="76200" anchor="ctr">
                    <a:solidFill>
                      <a:srgbClr val="F0F5F7"/>
                    </a:solidFill>
                  </a:tcPr>
                </a:tc>
                <a:tc>
                  <a:txBody>
                    <a:bodyPr/>
                    <a:lstStyle/>
                    <a:p>
                      <a:r>
                        <a:rPr sz="1875">
                          <a:solidFill>
                            <a:srgbClr val="253C47"/>
                          </a:solidFill>
                          <a:latin typeface="Helvetica Neue"/>
                          <a:ea typeface="Helvetica Neue"/>
                          <a:cs typeface="Helvetica Neue"/>
                        </a:rPr>
                        <a:t>Nonlinear feature interactions</a:t>
                      </a:r>
                    </a:p>
                  </a:txBody>
                  <a:tcPr marL="114300" marR="114300" marT="76200" marB="76200" anchor="ctr">
                    <a:solidFill>
                      <a:srgbClr val="F0F5F7"/>
                    </a:solidFill>
                  </a:tcPr>
                </a:tc>
              </a:tr>
              <a:tr h="628650">
                <a:tc>
                  <a:txBody>
                    <a:bodyPr/>
                    <a:lstStyle/>
                    <a:p>
                      <a:r>
                        <a:rPr sz="1875">
                          <a:solidFill>
                            <a:srgbClr val="253C47"/>
                          </a:solidFill>
                          <a:latin typeface="Helvetica Neue"/>
                          <a:ea typeface="Helvetica Neue"/>
                          <a:cs typeface="Helvetica Neue"/>
                        </a:rPr>
                        <a:t>KNN</a:t>
                      </a:r>
                    </a:p>
                  </a:txBody>
                  <a:tcPr marL="114300" marR="114300" marT="76200" marB="76200" anchor="ctr">
                    <a:solidFill>
                      <a:srgbClr val="FFFFFF"/>
                    </a:solidFill>
                  </a:tcPr>
                </a:tc>
                <a:tc>
                  <a:txBody>
                    <a:bodyPr/>
                    <a:lstStyle/>
                    <a:p>
                      <a:r>
                        <a:rPr sz="1875">
                          <a:solidFill>
                            <a:srgbClr val="253C47"/>
                          </a:solidFill>
                          <a:latin typeface="Helvetica Neue"/>
                          <a:ea typeface="Helvetica Neue"/>
                          <a:cs typeface="Helvetica Neue"/>
                        </a:rPr>
                        <a:t>15 neighbours</a:t>
                      </a:r>
                    </a:p>
                    <a:p>
                      <a:r>
                        <a:rPr sz="1875">
                          <a:solidFill>
                            <a:srgbClr val="253C47"/>
                          </a:solidFill>
                          <a:latin typeface="Helvetica Neue"/>
                          <a:ea typeface="Helvetica Neue"/>
                          <a:cs typeface="Helvetica Neue"/>
                        </a:rPr>
                        <a:t>Distance weighting</a:t>
                      </a:r>
                    </a:p>
                  </a:txBody>
                  <a:tcPr marL="114300" marR="114300" marT="76200" marB="76200" anchor="ctr">
                    <a:solidFill>
                      <a:srgbClr val="FFFFFF"/>
                    </a:solidFill>
                  </a:tcPr>
                </a:tc>
                <a:tc>
                  <a:txBody>
                    <a:bodyPr/>
                    <a:lstStyle/>
                    <a:p>
                      <a:r>
                        <a:rPr sz="1875">
                          <a:solidFill>
                            <a:srgbClr val="253C47"/>
                          </a:solidFill>
                          <a:latin typeface="Helvetica Neue"/>
                          <a:ea typeface="Helvetica Neue"/>
                          <a:cs typeface="Helvetica Neue"/>
                        </a:rPr>
                        <a:t>Metadata similarity</a:t>
                      </a:r>
                    </a:p>
                  </a:txBody>
                  <a:tcPr marL="114300" marR="114300" marT="76200" marB="76200" anchor="ctr">
                    <a:solidFill>
                      <a:srgbClr val="FFFFFF"/>
                    </a:solidFill>
                  </a:tcPr>
                </a:tc>
              </a:tr>
              <a:tr h="628650">
                <a:tc>
                  <a:txBody>
                    <a:bodyPr/>
                    <a:lstStyle/>
                    <a:p>
                      <a:r>
                        <a:rPr sz="1875">
                          <a:solidFill>
                            <a:srgbClr val="253C47"/>
                          </a:solidFill>
                          <a:latin typeface="Helvetica Neue"/>
                          <a:ea typeface="Helvetica Neue"/>
                          <a:cs typeface="Helvetica Neue"/>
                        </a:rPr>
                        <a:t>SVM</a:t>
                      </a:r>
                    </a:p>
                  </a:txBody>
                  <a:tcPr marL="114300" marR="114300" marT="76200" marB="76200" anchor="ctr">
                    <a:solidFill>
                      <a:srgbClr val="F0F5F7"/>
                    </a:solidFill>
                  </a:tcPr>
                </a:tc>
                <a:tc>
                  <a:txBody>
                    <a:bodyPr/>
                    <a:lstStyle/>
                    <a:p>
                      <a:r>
                        <a:rPr sz="1875">
                          <a:solidFill>
                            <a:srgbClr val="253C47"/>
                          </a:solidFill>
                          <a:latin typeface="Helvetica Neue"/>
                          <a:ea typeface="Helvetica Neue"/>
                          <a:cs typeface="Helvetica Neue"/>
                        </a:rPr>
                        <a:t>RBF, C=1, gamma=scale</a:t>
                      </a:r>
                    </a:p>
                    <a:p>
                      <a:r>
                        <a:rPr sz="1875">
                          <a:solidFill>
                            <a:srgbClr val="253C47"/>
                          </a:solidFill>
                          <a:latin typeface="Helvetica Neue"/>
                          <a:ea typeface="Helvetica Neue"/>
                          <a:cs typeface="Helvetica Neue"/>
                        </a:rPr>
                        <a:t>Balanced class weights</a:t>
                      </a:r>
                    </a:p>
                  </a:txBody>
                  <a:tcPr marL="114300" marR="114300" marT="76200" marB="76200" anchor="ctr">
                    <a:solidFill>
                      <a:srgbClr val="F0F5F7"/>
                    </a:solidFill>
                  </a:tcPr>
                </a:tc>
                <a:tc>
                  <a:txBody>
                    <a:bodyPr/>
                    <a:lstStyle/>
                    <a:p>
                      <a:r>
                        <a:rPr sz="1875">
                          <a:solidFill>
                            <a:srgbClr val="253C47"/>
                          </a:solidFill>
                          <a:latin typeface="Helvetica Neue"/>
                          <a:ea typeface="Helvetica Neue"/>
                          <a:cs typeface="Helvetica Neue"/>
                        </a:rPr>
                        <a:t>Regularised nonlinear boundary</a:t>
                      </a:r>
                    </a:p>
                  </a:txBody>
                  <a:tcPr marL="114300" marR="114300" marT="76200" marB="7620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8FCABA95-F30D-4DAA-A2FF-95C99FC27633}"/>
              </a:ext>
            </a:extLst>
          </p:cNvPr>
          <p:cNvSpPr>
            <a:spLocks xmlns:a="http://schemas.openxmlformats.org/drawingml/2006/main" noGrp="1"/>
          </p:cNvSpPr>
          <p:nvPr/>
        </p:nvSpPr>
        <p:spPr>
          <a:xfrm xmlns:a="http://schemas.openxmlformats.org/drawingml/2006/main">
            <a:off x="609600" y="59817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5A6D76"/>
                </a:solidFill>
                <a:latin typeface="Helvetica Neue"/>
                <a:ea typeface="Helvetica Neue"/>
                <a:cs typeface="Helvetica Neue"/>
              </a:defRPr>
            </a:defPPr>
          </a:lstStyle>
          <a:p xmlns:a="http://schemas.openxmlformats.org/drawingml/2006/main">
            <a:pPr>
              <a:defRPr sz="1725" b="0">
                <a:solidFill>
                  <a:srgbClr val="5A6D76"/>
                </a:solidFill>
                <a:latin typeface="Helvetica Neue"/>
                <a:ea typeface="Helvetica Neue"/>
                <a:cs typeface="Helvetica Neue"/>
              </a:defRPr>
            </a:pPr>
            <a:r>
              <a:rPr sz="1725" b="0">
                <a:solidFill>
                  <a:srgbClr val="5A6D76"/>
                </a:solidFill>
                <a:latin typeface="Helvetica Neue"/>
                <a:ea typeface="Helvetica Neue"/>
                <a:cs typeface="Helvetica Neue"/>
              </a:rPr>
              <a:t>Imputation and encoding fit inside the pipeline. KNN and SVM scale numeric inputs.</a:t>
            </a:r>
          </a:p>
        </p:txBody>
      </p:sp>
    </p:spTree>
    <p:extLst>
      <p:ext uri="{BB962C8B-B14F-4D97-AF65-F5344CB8AC3E}">
        <p14:creationId xmlns:p14="http://schemas.microsoft.com/office/powerpoint/2010/main" val="57426252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B2F8DA1C-0B81-4D8E-AA2C-1A77DA3DA884}"/>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Results under the frozen split</a:t>
            </a:r>
          </a:p>
        </p:txBody>
      </p:sp>
      <p:sp>
        <p:nvSpPr>
          <p:cNvPr id="2" name="">
            <a:extLst xmlns:a="http://schemas.openxmlformats.org/drawingml/2006/main">
              <a:ext uri="{FF2B5EF4-FFF2-40B4-BE49-F238E27FC236}">
                <a16:creationId xmlns:a16="http://schemas.microsoft.com/office/drawing/2014/main" id="{0C455970-9A51-4DAB-9F72-FDED61FF571C}"/>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5</a:t>
            </a:r>
          </a:p>
        </p:txBody>
      </p:sp>
      <p:graphicFrame>
        <p:nvGraphicFramePr>
          <p:cNvPr id="3" name="">
            <a:extLst xmlns:a="http://schemas.openxmlformats.org/drawingml/2006/main">
              <a:ext uri="{FF2B5EF4-FFF2-40B4-BE49-F238E27FC236}">
                <a16:creationId xmlns:a16="http://schemas.microsoft.com/office/drawing/2014/main" id="{1DD14712-92FB-4263-A714-F9E60ED22604}"/>
              </a:ext>
            </a:extLst>
          </p:cNvPr>
          <p:cNvGraphicFramePr/>
          <p:nvPr/>
        </p:nvGraphicFramePr>
        <p:xfrm>
          <a:off xmlns:a="http://schemas.openxmlformats.org/drawingml/2006/main" x="609600" y="1571625"/>
          <a:ext xmlns:a="http://schemas.openxmlformats.org/drawingml/2006/main" cx="10972800" cy="3400425"/>
        </p:xfrm>
        <a:graphic xmlns:a="http://schemas.openxmlformats.org/drawingml/2006/main">
          <a:graphicData uri="http://schemas.openxmlformats.org/drawingml/2006/table">
            <a:tbl>
              <a:tblPr/>
              <a:tblGrid>
                <a:gridCol w="1847850"/>
                <a:gridCol w="1866900"/>
                <a:gridCol w="1143000"/>
                <a:gridCol w="1866900"/>
                <a:gridCol w="1143000"/>
                <a:gridCol w="1552575"/>
                <a:gridCol w="1552575"/>
              </a:tblGrid>
              <a:tr h="566738">
                <a:tc>
                  <a:txBody>
                    <a:bodyPr/>
                    <a:lstStyle/>
                    <a:p>
                      <a:r>
                        <a:rPr sz="1725" b="1">
                          <a:solidFill>
                            <a:srgbClr val="FFFFFF"/>
                          </a:solidFill>
                          <a:latin typeface="Helvetica Neue"/>
                          <a:ea typeface="Helvetica Neue"/>
                          <a:cs typeface="Helvetica Neue"/>
                        </a:rPr>
                        <a:t>Model</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CV F1</a:t>
                      </a:r>
                    </a:p>
                    <a:p>
                      <a:r>
                        <a:rPr sz="1725" b="1">
                          <a:solidFill>
                            <a:srgbClr val="FFFFFF"/>
                          </a:solidFill>
                          <a:latin typeface="Helvetica Neue"/>
                          <a:ea typeface="Helvetica Neue"/>
                          <a:cs typeface="Helvetica Neue"/>
                        </a:rPr>
                        <a:t>mean +/- SD</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Test F1</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CV AUC</a:t>
                      </a:r>
                    </a:p>
                    <a:p>
                      <a:r>
                        <a:rPr sz="1725" b="1">
                          <a:solidFill>
                            <a:srgbClr val="FFFFFF"/>
                          </a:solidFill>
                          <a:latin typeface="Helvetica Neue"/>
                          <a:ea typeface="Helvetica Neue"/>
                          <a:cs typeface="Helvetica Neue"/>
                        </a:rPr>
                        <a:t>mean +/- SD</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Test AUC</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Test precision</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Test recall</a:t>
                      </a:r>
                    </a:p>
                  </a:txBody>
                  <a:tcPr marL="114300" marR="114300" marT="76200" marB="76200" anchor="ctr">
                    <a:solidFill>
                      <a:srgbClr val="18333E"/>
                    </a:solidFill>
                  </a:tcPr>
                </a:tc>
              </a:tr>
              <a:tr h="566738">
                <a:tc>
                  <a:txBody>
                    <a:bodyPr/>
                    <a:lstStyle/>
                    <a:p>
                      <a:r>
                        <a:rPr sz="1725">
                          <a:solidFill>
                            <a:srgbClr val="253C47"/>
                          </a:solidFill>
                          <a:latin typeface="Helvetica Neue"/>
                          <a:ea typeface="Helvetica Neue"/>
                          <a:cs typeface="Helvetica Neue"/>
                        </a:rPr>
                        <a:t>Dummy majority</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0.000 +/- 0.000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0.000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0.500 +/- 0.000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0.500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0.000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0.000</a:t>
                      </a:r>
                    </a:p>
                  </a:txBody>
                  <a:tcPr marL="114300" marR="114300" marT="76200" marB="76200" anchor="ctr">
                    <a:solidFill>
                      <a:srgbClr val="FFFFFF"/>
                    </a:solidFill>
                  </a:tcPr>
                </a:tc>
              </a:tr>
              <a:tr h="566738">
                <a:tc>
                  <a:txBody>
                    <a:bodyPr/>
                    <a:lstStyle/>
                    <a:p>
                      <a:r>
                        <a:rPr sz="1725">
                          <a:solidFill>
                            <a:srgbClr val="253C47"/>
                          </a:solidFill>
                          <a:latin typeface="Helvetica Neue"/>
                          <a:ea typeface="Helvetica Neue"/>
                          <a:cs typeface="Helvetica Neue"/>
                        </a:rPr>
                        <a:t>Dummy stratified</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0.155 +/- 0.034</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0.150</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0.492 +/- 0.020</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0.488</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0.152</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0.148</a:t>
                      </a:r>
                    </a:p>
                  </a:txBody>
                  <a:tcPr marL="114300" marR="114300" marT="76200" marB="76200" anchor="ctr">
                    <a:solidFill>
                      <a:srgbClr val="F0F5F7"/>
                    </a:solidFill>
                  </a:tcPr>
                </a:tc>
              </a:tr>
              <a:tr h="566738">
                <a:tc>
                  <a:txBody>
                    <a:bodyPr/>
                    <a:lstStyle/>
                    <a:p>
                      <a:r>
                        <a:rPr sz="1725">
                          <a:solidFill>
                            <a:srgbClr val="253C47"/>
                          </a:solidFill>
                          <a:latin typeface="Helvetica Neue"/>
                          <a:ea typeface="Helvetica Neue"/>
                          <a:cs typeface="Helvetica Neue"/>
                        </a:rPr>
                        <a:t>Decision Tree</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0.361 +/- 0.013</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0.300</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0.663 +/- 0.017</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0.563</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0.199</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0.605</a:t>
                      </a:r>
                    </a:p>
                  </a:txBody>
                  <a:tcPr marL="114300" marR="114300" marT="76200" marB="76200" anchor="ctr">
                    <a:solidFill>
                      <a:srgbClr val="FFFFFF"/>
                    </a:solidFill>
                  </a:tcPr>
                </a:tc>
              </a:tr>
              <a:tr h="566738">
                <a:tc>
                  <a:txBody>
                    <a:bodyPr/>
                    <a:lstStyle/>
                    <a:p>
                      <a:r>
                        <a:rPr sz="1725">
                          <a:solidFill>
                            <a:srgbClr val="253C47"/>
                          </a:solidFill>
                          <a:latin typeface="Helvetica Neue"/>
                          <a:ea typeface="Helvetica Neue"/>
                          <a:cs typeface="Helvetica Neue"/>
                        </a:rPr>
                        <a:t>KNN</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0.157 +/- 0.028</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0.231</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0.682 +/- 0.047</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0.644</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0.522</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0.148</a:t>
                      </a:r>
                    </a:p>
                  </a:txBody>
                  <a:tcPr marL="114300" marR="114300" marT="76200" marB="76200" anchor="ctr">
                    <a:solidFill>
                      <a:srgbClr val="F0F5F7"/>
                    </a:solidFill>
                  </a:tcPr>
                </a:tc>
              </a:tr>
              <a:tr h="566738">
                <a:tc>
                  <a:txBody>
                    <a:bodyPr/>
                    <a:lstStyle/>
                    <a:p>
                      <a:r>
                        <a:rPr sz="1725">
                          <a:solidFill>
                            <a:srgbClr val="253C47"/>
                          </a:solidFill>
                          <a:latin typeface="Helvetica Neue"/>
                          <a:ea typeface="Helvetica Neue"/>
                          <a:cs typeface="Helvetica Neue"/>
                        </a:rPr>
                        <a:t>SVM</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0.389 +/- 0.017</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0.340</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0.718 +/- 0.011</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0.643</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0.256</a:t>
                      </a:r>
                    </a:p>
                  </a:txBody>
                  <a:tcPr marL="114300" marR="114300" marT="76200" marB="76200" anchor="ctr">
                    <a:solidFill>
                      <a:srgbClr val="E4F0F5"/>
                    </a:solidFill>
                  </a:tcPr>
                </a:tc>
                <a:tc>
                  <a:txBody>
                    <a:bodyPr/>
                    <a:lstStyle/>
                    <a:p>
                      <a:r>
                        <a:rPr sz="1725">
                          <a:solidFill>
                            <a:srgbClr val="253C47"/>
                          </a:solidFill>
                          <a:latin typeface="Helvetica Neue"/>
                          <a:ea typeface="Helvetica Neue"/>
                          <a:cs typeface="Helvetica Neue"/>
                        </a:rPr>
                        <a:t>0.506</a:t>
                      </a:r>
                    </a:p>
                  </a:txBody>
                  <a:tcPr marL="114300" marR="114300" marT="76200" marB="76200" anchor="ctr">
                    <a:solidFill>
                      <a:srgbClr val="E4F0F5"/>
                    </a:solidFill>
                  </a:tcPr>
                </a:tc>
              </a:tr>
            </a:tbl>
          </a:graphicData>
        </a:graphic>
      </p:graphicFrame>
      <p:sp>
        <p:nvSpPr>
          <p:cNvPr id="4" name="">
            <a:extLst xmlns:a="http://schemas.openxmlformats.org/drawingml/2006/main">
              <a:ext uri="{FF2B5EF4-FFF2-40B4-BE49-F238E27FC236}">
                <a16:creationId xmlns:a16="http://schemas.microsoft.com/office/drawing/2014/main" id="{83758A0D-9321-4F2C-AF95-870D90B0DC57}"/>
              </a:ext>
            </a:extLst>
          </p:cNvPr>
          <p:cNvSpPr>
            <a:spLocks xmlns:a="http://schemas.openxmlformats.org/drawingml/2006/main" noGrp="1"/>
          </p:cNvSpPr>
          <p:nvPr/>
        </p:nvSpPr>
        <p:spPr>
          <a:xfrm xmlns:a="http://schemas.openxmlformats.org/drawingml/2006/main">
            <a:off x="609600" y="52768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46C94"/>
                </a:solidFill>
                <a:latin typeface="Helvetica Neue"/>
                <a:ea typeface="Helvetica Neue"/>
                <a:cs typeface="Helvetica Neue"/>
              </a:defRPr>
            </a:defPPr>
          </a:lstStyle>
          <a:p xmlns:a="http://schemas.openxmlformats.org/drawingml/2006/main">
            <a:pPr>
              <a:defRPr sz="2400" b="1">
                <a:solidFill>
                  <a:srgbClr val="146C94"/>
                </a:solidFill>
                <a:latin typeface="Helvetica Neue"/>
                <a:ea typeface="Helvetica Neue"/>
                <a:cs typeface="Helvetica Neue"/>
              </a:defRPr>
            </a:pPr>
            <a:r>
              <a:rPr sz="2400" b="1">
                <a:solidFill>
                  <a:srgbClr val="146C94"/>
                </a:solidFill>
                <a:latin typeface="Helvetica Neue"/>
                <a:ea typeface="Helvetica Neue"/>
                <a:cs typeface="Helvetica Neue"/>
              </a:rPr>
              <a:t>SVM selected using training CV F1</a:t>
            </a:r>
          </a:p>
        </p:txBody>
      </p:sp>
      <p:sp>
        <p:nvSpPr>
          <p:cNvPr id="5" name="">
            <a:extLst xmlns:a="http://schemas.openxmlformats.org/drawingml/2006/main">
              <a:ext uri="{FF2B5EF4-FFF2-40B4-BE49-F238E27FC236}">
                <a16:creationId xmlns:a16="http://schemas.microsoft.com/office/drawing/2014/main" id="{50BF5A46-527E-410B-B276-975334A77949}"/>
              </a:ext>
            </a:extLst>
          </p:cNvPr>
          <p:cNvSpPr>
            <a:spLocks xmlns:a="http://schemas.openxmlformats.org/drawingml/2006/main" noGrp="1"/>
          </p:cNvSpPr>
          <p:nvPr/>
        </p:nvSpPr>
        <p:spPr>
          <a:xfrm xmlns:a="http://schemas.openxmlformats.org/drawingml/2006/main">
            <a:off x="609600" y="59245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53C47"/>
                </a:solidFill>
                <a:latin typeface="Helvetica Neue"/>
                <a:ea typeface="Helvetica Neue"/>
                <a:cs typeface="Helvetica Neue"/>
              </a:defRPr>
            </a:defPPr>
          </a:lstStyle>
          <a:p xmlns:a="http://schemas.openxmlformats.org/drawingml/2006/main">
            <a:pPr>
              <a:defRPr sz="1875" b="0">
                <a:solidFill>
                  <a:srgbClr val="253C47"/>
                </a:solidFill>
                <a:latin typeface="Helvetica Neue"/>
                <a:ea typeface="Helvetica Neue"/>
                <a:cs typeface="Helvetica Neue"/>
              </a:defRPr>
            </a:pPr>
            <a:r>
              <a:rPr sz="1875" b="0">
                <a:solidFill>
                  <a:srgbClr val="253C47"/>
                </a:solidFill>
                <a:latin typeface="Helvetica Neue"/>
                <a:ea typeface="Helvetica Neue"/>
                <a:cs typeface="Helvetica Neue"/>
              </a:rPr>
              <a:t>Held-out F1 0.340. ROC-AUC 0.643. CV spread shows fold variation.</a:t>
            </a:r>
          </a:p>
        </p:txBody>
      </p:sp>
    </p:spTree>
    <p:extLst>
      <p:ext uri="{BB962C8B-B14F-4D97-AF65-F5344CB8AC3E}">
        <p14:creationId xmlns:p14="http://schemas.microsoft.com/office/powerpoint/2010/main" val="33078112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A5641A6-70F6-4217-B4D6-78473FD1755E}"/>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Errors on held-out series</a:t>
            </a:r>
          </a:p>
        </p:txBody>
      </p:sp>
      <p:sp>
        <p:nvSpPr>
          <p:cNvPr id="2" name="">
            <a:extLst xmlns:a="http://schemas.openxmlformats.org/drawingml/2006/main">
              <a:ext uri="{FF2B5EF4-FFF2-40B4-BE49-F238E27FC236}">
                <a16:creationId xmlns:a16="http://schemas.microsoft.com/office/drawing/2014/main" id="{66CC4FE7-DC87-40F8-B64A-A712B2A80012}"/>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6</a:t>
            </a:r>
          </a:p>
        </p:txBody>
      </p:sp>
      <p:graphicFrame>
        <p:nvGraphicFramePr>
          <p:cNvPr id="3" name="">
            <a:extLst xmlns:a="http://schemas.openxmlformats.org/drawingml/2006/main">
              <a:ext uri="{FF2B5EF4-FFF2-40B4-BE49-F238E27FC236}">
                <a16:creationId xmlns:a16="http://schemas.microsoft.com/office/drawing/2014/main" id="{FC99DDB7-E594-4ECC-90BF-E4A8D7026C44}"/>
              </a:ext>
            </a:extLst>
          </p:cNvPr>
          <p:cNvGraphicFramePr/>
          <p:nvPr/>
        </p:nvGraphicFramePr>
        <p:xfrm>
          <a:off xmlns:a="http://schemas.openxmlformats.org/drawingml/2006/main" x="609600" y="1781175"/>
          <a:ext xmlns:a="http://schemas.openxmlformats.org/drawingml/2006/main" cx="4695825" cy="2276475"/>
        </p:xfrm>
        <a:graphic xmlns:a="http://schemas.openxmlformats.org/drawingml/2006/main">
          <a:graphicData uri="http://schemas.openxmlformats.org/drawingml/2006/table">
            <a:tbl>
              <a:tblPr/>
              <a:tblGrid>
                <a:gridCol w="1609725"/>
                <a:gridCol w="1590675"/>
                <a:gridCol w="1495425"/>
              </a:tblGrid>
              <a:tr h="758825">
                <a:tc>
                  <a:txBody>
                    <a:bodyPr/>
                    <a:lstStyle/>
                    <a:p>
                      <a:r>
                        <a:rPr sz="1800" b="1">
                          <a:solidFill>
                            <a:srgbClr val="FFFFFF"/>
                          </a:solidFill>
                          <a:latin typeface="Helvetica Neue"/>
                          <a:ea typeface="Helvetica Neue"/>
                          <a:cs typeface="Helvetica Neue"/>
                        </a:rPr>
                        <a:t>Actual class</a:t>
                      </a:r>
                    </a:p>
                  </a:txBody>
                  <a:tcPr marL="114300" marR="114300" marT="76200" marB="76200" anchor="ctr">
                    <a:solidFill>
                      <a:srgbClr val="18333E"/>
                    </a:solidFill>
                  </a:tcPr>
                </a:tc>
                <a:tc>
                  <a:txBody>
                    <a:bodyPr/>
                    <a:lstStyle/>
                    <a:p>
                      <a:r>
                        <a:rPr sz="1800" b="1">
                          <a:solidFill>
                            <a:srgbClr val="FFFFFF"/>
                          </a:solidFill>
                          <a:latin typeface="Helvetica Neue"/>
                          <a:ea typeface="Helvetica Neue"/>
                          <a:cs typeface="Helvetica Neue"/>
                        </a:rPr>
                        <a:t>Predicted below 8</a:t>
                      </a:r>
                    </a:p>
                  </a:txBody>
                  <a:tcPr marL="114300" marR="114300" marT="76200" marB="76200" anchor="ctr">
                    <a:solidFill>
                      <a:srgbClr val="18333E"/>
                    </a:solidFill>
                  </a:tcPr>
                </a:tc>
                <a:tc>
                  <a:txBody>
                    <a:bodyPr/>
                    <a:lstStyle/>
                    <a:p>
                      <a:r>
                        <a:rPr sz="1800" b="1">
                          <a:solidFill>
                            <a:srgbClr val="FFFFFF"/>
                          </a:solidFill>
                          <a:latin typeface="Helvetica Neue"/>
                          <a:ea typeface="Helvetica Neue"/>
                          <a:cs typeface="Helvetica Neue"/>
                        </a:rPr>
                        <a:t>Predicted high</a:t>
                      </a:r>
                    </a:p>
                  </a:txBody>
                  <a:tcPr marL="114300" marR="114300" marT="76200" marB="76200" anchor="ctr">
                    <a:solidFill>
                      <a:srgbClr val="18333E"/>
                    </a:solidFill>
                  </a:tcPr>
                </a:tc>
              </a:tr>
              <a:tr h="758825">
                <a:tc>
                  <a:txBody>
                    <a:bodyPr/>
                    <a:lstStyle/>
                    <a:p>
                      <a:r>
                        <a:rPr sz="1800">
                          <a:solidFill>
                            <a:srgbClr val="253C47"/>
                          </a:solidFill>
                          <a:latin typeface="Helvetica Neue"/>
                          <a:ea typeface="Helvetica Neue"/>
                          <a:cs typeface="Helvetica Neue"/>
                        </a:rPr>
                        <a:t>Below 8</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268</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119</a:t>
                      </a:r>
                    </a:p>
                  </a:txBody>
                  <a:tcPr marL="114300" marR="114300" marT="76200" marB="76200" anchor="ctr">
                    <a:solidFill>
                      <a:srgbClr val="FFFFFF"/>
                    </a:solidFill>
                  </a:tcPr>
                </a:tc>
              </a:tr>
              <a:tr h="758825">
                <a:tc>
                  <a:txBody>
                    <a:bodyPr/>
                    <a:lstStyle/>
                    <a:p>
                      <a:r>
                        <a:rPr sz="1800">
                          <a:solidFill>
                            <a:srgbClr val="253C47"/>
                          </a:solidFill>
                          <a:latin typeface="Helvetica Neue"/>
                          <a:ea typeface="Helvetica Neue"/>
                          <a:cs typeface="Helvetica Neue"/>
                        </a:rPr>
                        <a:t>At least 8</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40</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41</a:t>
                      </a:r>
                    </a:p>
                  </a:txBody>
                  <a:tcPr marL="114300" marR="114300" marT="76200" marB="76200" anchor="ctr">
                    <a:solidFill>
                      <a:srgbClr val="F0F5F7"/>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ED1A1743-D25B-448A-BF7C-C3C6A6C4D07C}"/>
              </a:ext>
            </a:extLst>
          </p:cNvPr>
          <p:cNvGraphicFramePr/>
          <p:nvPr/>
        </p:nvGraphicFramePr>
        <p:xfrm>
          <a:off xmlns:a="http://schemas.openxmlformats.org/drawingml/2006/main" x="5743575" y="1781175"/>
          <a:ext xmlns:a="http://schemas.openxmlformats.org/drawingml/2006/main" cx="5838825" cy="3209925"/>
        </p:xfrm>
        <a:graphic xmlns:a="http://schemas.openxmlformats.org/drawingml/2006/main">
          <a:graphicData uri="http://schemas.openxmlformats.org/drawingml/2006/table">
            <a:tbl>
              <a:tblPr/>
              <a:tblGrid>
                <a:gridCol w="2019300"/>
                <a:gridCol w="990600"/>
                <a:gridCol w="1247775"/>
                <a:gridCol w="1581150"/>
              </a:tblGrid>
              <a:tr h="641985">
                <a:tc>
                  <a:txBody>
                    <a:bodyPr/>
                    <a:lstStyle/>
                    <a:p>
                      <a:r>
                        <a:rPr sz="1725" b="1">
                          <a:solidFill>
                            <a:srgbClr val="FFFFFF"/>
                          </a:solidFill>
                          <a:latin typeface="Helvetica Neue"/>
                          <a:ea typeface="Helvetica Neue"/>
                          <a:cs typeface="Helvetica Neue"/>
                        </a:rPr>
                        <a:t>Series</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Score</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Class</a:t>
                      </a:r>
                    </a:p>
                  </a:txBody>
                  <a:tcPr marL="114300" marR="114300" marT="76200" marB="76200" anchor="ctr">
                    <a:solidFill>
                      <a:srgbClr val="18333E"/>
                    </a:solidFill>
                  </a:tcPr>
                </a:tc>
                <a:tc>
                  <a:txBody>
                    <a:bodyPr/>
                    <a:lstStyle/>
                    <a:p>
                      <a:r>
                        <a:rPr sz="1725" b="1">
                          <a:solidFill>
                            <a:srgbClr val="FFFFFF"/>
                          </a:solidFill>
                          <a:latin typeface="Helvetica Neue"/>
                          <a:ea typeface="Helvetica Neue"/>
                          <a:cs typeface="Helvetica Neue"/>
                        </a:rPr>
                        <a:t>Error</a:t>
                      </a:r>
                    </a:p>
                  </a:txBody>
                  <a:tcPr marL="114300" marR="114300" marT="76200" marB="76200" anchor="ctr">
                    <a:solidFill>
                      <a:srgbClr val="18333E"/>
                    </a:solidFill>
                  </a:tcPr>
                </a:tc>
              </a:tr>
              <a:tr h="641985">
                <a:tc>
                  <a:txBody>
                    <a:bodyPr/>
                    <a:lstStyle/>
                    <a:p>
                      <a:r>
                        <a:rPr sz="1725">
                          <a:solidFill>
                            <a:srgbClr val="253C47"/>
                          </a:solidFill>
                          <a:latin typeface="Helvetica Neue"/>
                          <a:ea typeface="Helvetica Neue"/>
                          <a:cs typeface="Helvetica Neue"/>
                        </a:rPr>
                        <a:t>Touching Evil</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7.1</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High</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False</a:t>
                      </a:r>
                    </a:p>
                    <a:p>
                      <a:r>
                        <a:rPr sz="1725">
                          <a:solidFill>
                            <a:srgbClr val="253C47"/>
                          </a:solidFill>
                          <a:latin typeface="Helvetica Neue"/>
                          <a:ea typeface="Helvetica Neue"/>
                          <a:cs typeface="Helvetica Neue"/>
                        </a:rPr>
                        <a:t>positive</a:t>
                      </a:r>
                    </a:p>
                  </a:txBody>
                  <a:tcPr marL="114300" marR="114300" marT="76200" marB="76200" anchor="ctr">
                    <a:solidFill>
                      <a:srgbClr val="FFFFFF"/>
                    </a:solidFill>
                  </a:tcPr>
                </a:tc>
              </a:tr>
              <a:tr h="641985">
                <a:tc>
                  <a:txBody>
                    <a:bodyPr/>
                    <a:lstStyle/>
                    <a:p>
                      <a:r>
                        <a:rPr sz="1725">
                          <a:solidFill>
                            <a:srgbClr val="253C47"/>
                          </a:solidFill>
                          <a:latin typeface="Helvetica Neue"/>
                          <a:ea typeface="Helvetica Neue"/>
                          <a:cs typeface="Helvetica Neue"/>
                        </a:rPr>
                        <a:t>The Prisoner</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6.9</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High</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False</a:t>
                      </a:r>
                    </a:p>
                    <a:p>
                      <a:r>
                        <a:rPr sz="1725">
                          <a:solidFill>
                            <a:srgbClr val="253C47"/>
                          </a:solidFill>
                          <a:latin typeface="Helvetica Neue"/>
                          <a:ea typeface="Helvetica Neue"/>
                          <a:cs typeface="Helvetica Neue"/>
                        </a:rPr>
                        <a:t>positive</a:t>
                      </a:r>
                    </a:p>
                  </a:txBody>
                  <a:tcPr marL="114300" marR="114300" marT="76200" marB="76200" anchor="ctr">
                    <a:solidFill>
                      <a:srgbClr val="F0F5F7"/>
                    </a:solidFill>
                  </a:tcPr>
                </a:tc>
              </a:tr>
              <a:tr h="641985">
                <a:tc>
                  <a:txBody>
                    <a:bodyPr/>
                    <a:lstStyle/>
                    <a:p>
                      <a:r>
                        <a:rPr sz="1725">
                          <a:solidFill>
                            <a:srgbClr val="253C47"/>
                          </a:solidFill>
                          <a:latin typeface="Helvetica Neue"/>
                          <a:ea typeface="Helvetica Neue"/>
                          <a:cs typeface="Helvetica Neue"/>
                        </a:rPr>
                        <a:t>Community</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8.3</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Below 8</a:t>
                      </a:r>
                    </a:p>
                  </a:txBody>
                  <a:tcPr marL="114300" marR="114300" marT="76200" marB="76200" anchor="ctr">
                    <a:solidFill>
                      <a:srgbClr val="FFFFFF"/>
                    </a:solidFill>
                  </a:tcPr>
                </a:tc>
                <a:tc>
                  <a:txBody>
                    <a:bodyPr/>
                    <a:lstStyle/>
                    <a:p>
                      <a:r>
                        <a:rPr sz="1725">
                          <a:solidFill>
                            <a:srgbClr val="253C47"/>
                          </a:solidFill>
                          <a:latin typeface="Helvetica Neue"/>
                          <a:ea typeface="Helvetica Neue"/>
                          <a:cs typeface="Helvetica Neue"/>
                        </a:rPr>
                        <a:t>False</a:t>
                      </a:r>
                    </a:p>
                    <a:p>
                      <a:r>
                        <a:rPr sz="1725">
                          <a:solidFill>
                            <a:srgbClr val="253C47"/>
                          </a:solidFill>
                          <a:latin typeface="Helvetica Neue"/>
                          <a:ea typeface="Helvetica Neue"/>
                          <a:cs typeface="Helvetica Neue"/>
                        </a:rPr>
                        <a:t>negative</a:t>
                      </a:r>
                    </a:p>
                  </a:txBody>
                  <a:tcPr marL="114300" marR="114300" marT="76200" marB="76200" anchor="ctr">
                    <a:solidFill>
                      <a:srgbClr val="FFFFFF"/>
                    </a:solidFill>
                  </a:tcPr>
                </a:tc>
              </a:tr>
              <a:tr h="641985">
                <a:tc>
                  <a:txBody>
                    <a:bodyPr/>
                    <a:lstStyle/>
                    <a:p>
                      <a:r>
                        <a:rPr sz="1725">
                          <a:solidFill>
                            <a:srgbClr val="253C47"/>
                          </a:solidFill>
                          <a:latin typeface="Helvetica Neue"/>
                          <a:ea typeface="Helvetica Neue"/>
                          <a:cs typeface="Helvetica Neue"/>
                        </a:rPr>
                        <a:t>Rules of Engagement</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8.0</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Below 8</a:t>
                      </a:r>
                    </a:p>
                  </a:txBody>
                  <a:tcPr marL="114300" marR="114300" marT="76200" marB="76200" anchor="ctr">
                    <a:solidFill>
                      <a:srgbClr val="F0F5F7"/>
                    </a:solidFill>
                  </a:tcPr>
                </a:tc>
                <a:tc>
                  <a:txBody>
                    <a:bodyPr/>
                    <a:lstStyle/>
                    <a:p>
                      <a:r>
                        <a:rPr sz="1725">
                          <a:solidFill>
                            <a:srgbClr val="253C47"/>
                          </a:solidFill>
                          <a:latin typeface="Helvetica Neue"/>
                          <a:ea typeface="Helvetica Neue"/>
                          <a:cs typeface="Helvetica Neue"/>
                        </a:rPr>
                        <a:t>False</a:t>
                      </a:r>
                    </a:p>
                    <a:p>
                      <a:r>
                        <a:rPr sz="1725">
                          <a:solidFill>
                            <a:srgbClr val="253C47"/>
                          </a:solidFill>
                          <a:latin typeface="Helvetica Neue"/>
                          <a:ea typeface="Helvetica Neue"/>
                          <a:cs typeface="Helvetica Neue"/>
                        </a:rPr>
                        <a:t>negative</a:t>
                      </a:r>
                    </a:p>
                  </a:txBody>
                  <a:tcPr marL="114300" marR="114300" marT="76200" marB="76200" anchor="ctr">
                    <a:solidFill>
                      <a:srgbClr val="F0F5F7"/>
                    </a:solidFill>
                  </a:tcPr>
                </a:tc>
              </a:tr>
            </a:tbl>
          </a:graphicData>
        </a:graphic>
      </p:graphicFrame>
      <p:sp>
        <p:nvSpPr>
          <p:cNvPr id="5" name="">
            <a:extLst xmlns:a="http://schemas.openxmlformats.org/drawingml/2006/main">
              <a:ext uri="{FF2B5EF4-FFF2-40B4-BE49-F238E27FC236}">
                <a16:creationId xmlns:a16="http://schemas.microsoft.com/office/drawing/2014/main" id="{99B17D61-4A90-436F-8F8F-05CB5BFBE747}"/>
              </a:ext>
            </a:extLst>
          </p:cNvPr>
          <p:cNvSpPr>
            <a:spLocks xmlns:a="http://schemas.openxmlformats.org/drawingml/2006/main" noGrp="1"/>
          </p:cNvSpPr>
          <p:nvPr/>
        </p:nvSpPr>
        <p:spPr>
          <a:xfrm xmlns:a="http://schemas.openxmlformats.org/drawingml/2006/main">
            <a:off x="609600" y="4591050"/>
            <a:ext cx="4857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53C47"/>
                </a:solidFill>
                <a:latin typeface="Helvetica Neue"/>
                <a:ea typeface="Helvetica Neue"/>
                <a:cs typeface="Helvetica Neue"/>
              </a:defRPr>
            </a:defPPr>
          </a:lstStyle>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41 of 81 high-rated shows retrieved</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40 high-rated shows missed</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119 false shortlist entries</a:t>
            </a:r>
          </a:p>
        </p:txBody>
      </p:sp>
      <p:sp>
        <p:nvSpPr>
          <p:cNvPr id="6" name="">
            <a:extLst xmlns:a="http://schemas.openxmlformats.org/drawingml/2006/main">
              <a:ext uri="{FF2B5EF4-FFF2-40B4-BE49-F238E27FC236}">
                <a16:creationId xmlns:a16="http://schemas.microsoft.com/office/drawing/2014/main" id="{DF2E5033-6EB4-4561-8CE7-CE0C8E767939}"/>
              </a:ext>
            </a:extLst>
          </p:cNvPr>
          <p:cNvSpPr>
            <a:spLocks xmlns:a="http://schemas.openxmlformats.org/drawingml/2006/main" noGrp="1"/>
          </p:cNvSpPr>
          <p:nvPr/>
        </p:nvSpPr>
        <p:spPr>
          <a:xfrm xmlns:a="http://schemas.openxmlformats.org/drawingml/2006/main">
            <a:off x="5743575" y="5314950"/>
            <a:ext cx="58388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253C47"/>
                </a:solidFill>
                <a:latin typeface="Helvetica Neue"/>
                <a:ea typeface="Helvetica Neue"/>
                <a:cs typeface="Helvetica Neue"/>
              </a:defRPr>
            </a:defPPr>
          </a:lstStyle>
          <a:p xmlns:a="http://schemas.openxmlformats.org/drawingml/2006/main">
            <a:pPr>
              <a:defRPr sz="2025" b="0">
                <a:solidFill>
                  <a:srgbClr val="253C47"/>
                </a:solidFill>
                <a:latin typeface="Helvetica Neue"/>
                <a:ea typeface="Helvetica Neue"/>
                <a:cs typeface="Helvetica Neue"/>
              </a:defRPr>
            </a:pPr>
            <a:r>
              <a:rPr sz="2025" b="0">
                <a:solidFill>
                  <a:srgbClr val="253C47"/>
                </a:solidFill>
                <a:latin typeface="Helvetica Neue"/>
                <a:ea typeface="Helvetica Neue"/>
                <a:cs typeface="Helvetica Neue"/>
              </a:rPr>
              <a:t>Metadata omit writing quality and</a:t>
            </a:r>
          </a:p>
          <a:p xmlns:a="http://schemas.openxmlformats.org/drawingml/2006/main">
            <a:pPr>
              <a:defRPr sz="2025" b="0">
                <a:solidFill>
                  <a:srgbClr val="253C47"/>
                </a:solidFill>
                <a:latin typeface="Helvetica Neue"/>
                <a:ea typeface="Helvetica Neue"/>
                <a:cs typeface="Helvetica Neue"/>
              </a:defRPr>
            </a:pPr>
            <a:r>
              <a:rPr sz="2025" b="0">
                <a:solidFill>
                  <a:srgbClr val="253C47"/>
                </a:solidFill>
                <a:latin typeface="Helvetica Neue"/>
                <a:ea typeface="Helvetica Neue"/>
                <a:cs typeface="Helvetica Neue"/>
              </a:rPr>
              <a:t>audience taste. Vote counts are</a:t>
            </a:r>
          </a:p>
          <a:p xmlns:a="http://schemas.openxmlformats.org/drawingml/2006/main">
            <a:pPr>
              <a:defRPr sz="2025" b="0">
                <a:solidFill>
                  <a:srgbClr val="253C47"/>
                </a:solidFill>
                <a:latin typeface="Helvetica Neue"/>
                <a:ea typeface="Helvetica Neue"/>
                <a:cs typeface="Helvetica Neue"/>
              </a:defRPr>
            </a:pPr>
            <a:r>
              <a:rPr sz="2025" b="0">
                <a:solidFill>
                  <a:srgbClr val="253C47"/>
                </a:solidFill>
                <a:latin typeface="Helvetica Neue"/>
                <a:ea typeface="Helvetica Neue"/>
                <a:cs typeface="Helvetica Neue"/>
              </a:rPr>
              <a:t>unavailable in this endpoint.</a:t>
            </a:r>
          </a:p>
        </p:txBody>
      </p:sp>
    </p:spTree>
    <p:extLst>
      <p:ext uri="{BB962C8B-B14F-4D97-AF65-F5344CB8AC3E}">
        <p14:creationId xmlns:p14="http://schemas.microsoft.com/office/powerpoint/2010/main" val="12785052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03ED9CE-E762-4362-A1E6-E90499E317E5}"/>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Conclusions and limitations</a:t>
            </a:r>
          </a:p>
        </p:txBody>
      </p:sp>
      <p:sp>
        <p:nvSpPr>
          <p:cNvPr id="2" name="">
            <a:extLst xmlns:a="http://schemas.openxmlformats.org/drawingml/2006/main">
              <a:ext uri="{FF2B5EF4-FFF2-40B4-BE49-F238E27FC236}">
                <a16:creationId xmlns:a16="http://schemas.microsoft.com/office/drawing/2014/main" id="{89CFAC22-5AA4-447F-93B5-09C95AF8A451}"/>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7</a:t>
            </a:r>
          </a:p>
        </p:txBody>
      </p:sp>
      <p:sp>
        <p:nvSpPr>
          <p:cNvPr id="3" name="">
            <a:extLst xmlns:a="http://schemas.openxmlformats.org/drawingml/2006/main">
              <a:ext uri="{FF2B5EF4-FFF2-40B4-BE49-F238E27FC236}">
                <a16:creationId xmlns:a16="http://schemas.microsoft.com/office/drawing/2014/main" id="{68152931-59DE-4B44-A7A7-4FBA6BCAE9B2}"/>
              </a:ext>
            </a:extLst>
          </p:cNvPr>
          <p:cNvSpPr>
            <a:spLocks xmlns:a="http://schemas.openxmlformats.org/drawingml/2006/main" noGrp="1"/>
          </p:cNvSpPr>
          <p:nvPr/>
        </p:nvSpPr>
        <p:spPr>
          <a:xfrm xmlns:a="http://schemas.openxmlformats.org/drawingml/2006/main">
            <a:off x="609600" y="1504950"/>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46C94"/>
                </a:solidFill>
                <a:latin typeface="Helvetica Neue"/>
                <a:ea typeface="Helvetica Neue"/>
                <a:cs typeface="Helvetica Neue"/>
              </a:defRPr>
            </a:defPPr>
          </a:lstStyle>
          <a:p xmlns:a="http://schemas.openxmlformats.org/drawingml/2006/main">
            <a:pPr>
              <a:defRPr sz="2550" b="1">
                <a:solidFill>
                  <a:srgbClr val="146C94"/>
                </a:solidFill>
                <a:latin typeface="Helvetica Neue"/>
                <a:ea typeface="Helvetica Neue"/>
                <a:cs typeface="Helvetica Neue"/>
              </a:defRPr>
            </a:pPr>
            <a:r>
              <a:rPr sz="2550" b="1">
                <a:solidFill>
                  <a:srgbClr val="146C94"/>
                </a:solidFill>
                <a:latin typeface="Helvetica Neue"/>
                <a:ea typeface="Helvetica Neue"/>
                <a:cs typeface="Helvetica Neue"/>
              </a:rPr>
              <a:t>Metadata provide modest ranking signal</a:t>
            </a:r>
          </a:p>
        </p:txBody>
      </p:sp>
      <p:sp>
        <p:nvSpPr>
          <p:cNvPr id="4" name="">
            <a:extLst xmlns:a="http://schemas.openxmlformats.org/drawingml/2006/main">
              <a:ext uri="{FF2B5EF4-FFF2-40B4-BE49-F238E27FC236}">
                <a16:creationId xmlns:a16="http://schemas.microsoft.com/office/drawing/2014/main" id="{E4191C15-576F-4062-B456-3D0B329ADB67}"/>
              </a:ext>
            </a:extLst>
          </p:cNvPr>
          <p:cNvSpPr>
            <a:spLocks xmlns:a="http://schemas.openxmlformats.org/drawingml/2006/main" noGrp="1"/>
          </p:cNvSpPr>
          <p:nvPr/>
        </p:nvSpPr>
        <p:spPr>
          <a:xfrm xmlns:a="http://schemas.openxmlformats.org/drawingml/2006/main">
            <a:off x="609600" y="2333625"/>
            <a:ext cx="109728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253C47"/>
                </a:solidFill>
                <a:latin typeface="Helvetica Neue"/>
                <a:ea typeface="Helvetica Neue"/>
                <a:cs typeface="Helvetica Neue"/>
              </a:defRPr>
            </a:defPPr>
          </a:lstStyle>
          <a:p xmlns:a="http://schemas.openxmlformats.org/drawingml/2006/main">
            <a:pPr>
              <a:defRPr sz="2400" b="0">
                <a:solidFill>
                  <a:srgbClr val="253C47"/>
                </a:solidFill>
                <a:latin typeface="Helvetica Neue"/>
                <a:ea typeface="Helvetica Neue"/>
                <a:cs typeface="Helvetica Neue"/>
              </a:defRPr>
            </a:pPr>
            <a:r>
              <a:rPr sz="2400" b="0">
                <a:solidFill>
                  <a:srgbClr val="253C47"/>
                </a:solidFill>
                <a:latin typeface="Helvetica Neue"/>
                <a:ea typeface="Helvetica Neue"/>
                <a:cs typeface="Helvetica Neue"/>
              </a:rPr>
              <a:t>SVM test F1: 0.340</a:t>
            </a:r>
          </a:p>
          <a:p xmlns:a="http://schemas.openxmlformats.org/drawingml/2006/main">
            <a:pPr>
              <a:defRPr sz="2400" b="0">
                <a:solidFill>
                  <a:srgbClr val="253C47"/>
                </a:solidFill>
                <a:latin typeface="Helvetica Neue"/>
                <a:ea typeface="Helvetica Neue"/>
                <a:cs typeface="Helvetica Neue"/>
              </a:defRPr>
            </a:pPr>
            <a:r>
              <a:rPr sz="2400" b="0">
                <a:solidFill>
                  <a:srgbClr val="253C47"/>
                </a:solidFill>
                <a:latin typeface="Helvetica Neue"/>
                <a:ea typeface="Helvetica Neue"/>
                <a:cs typeface="Helvetica Neue"/>
              </a:rPr>
              <a:t>Stratified chance baseline: 0.150</a:t>
            </a:r>
          </a:p>
          <a:p xmlns:a="http://schemas.openxmlformats.org/drawingml/2006/main">
            <a:pPr>
              <a:defRPr sz="2400" b="0">
                <a:solidFill>
                  <a:srgbClr val="253C47"/>
                </a:solidFill>
                <a:latin typeface="Helvetica Neue"/>
                <a:ea typeface="Helvetica Neue"/>
                <a:cs typeface="Helvetica Neue"/>
              </a:defRPr>
            </a:pPr>
            <a:r>
              <a:rPr sz="2400" b="0">
                <a:solidFill>
                  <a:srgbClr val="253C47"/>
                </a:solidFill>
                <a:latin typeface="Helvetica Neue"/>
                <a:ea typeface="Helvetica Neue"/>
                <a:cs typeface="Helvetica Neue"/>
              </a:rPr>
              <a:t>The shortlist still contains many false positives.</a:t>
            </a:r>
          </a:p>
        </p:txBody>
      </p:sp>
      <p:sp>
        <p:nvSpPr>
          <p:cNvPr id="5" name="">
            <a:extLst xmlns:a="http://schemas.openxmlformats.org/drawingml/2006/main">
              <a:ext uri="{FF2B5EF4-FFF2-40B4-BE49-F238E27FC236}">
                <a16:creationId xmlns:a16="http://schemas.microsoft.com/office/drawing/2014/main" id="{F985E30E-14F7-4746-B543-AEC85FE17F9C}"/>
              </a:ext>
            </a:extLst>
          </p:cNvPr>
          <p:cNvSpPr>
            <a:spLocks xmlns:a="http://schemas.openxmlformats.org/drawingml/2006/main" noGrp="1"/>
          </p:cNvSpPr>
          <p:nvPr/>
        </p:nvSpPr>
        <p:spPr>
          <a:xfrm xmlns:a="http://schemas.openxmlformats.org/drawingml/2006/main">
            <a:off x="609600" y="4114800"/>
            <a:ext cx="109728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53C47"/>
                </a:solidFill>
                <a:latin typeface="Helvetica Neue"/>
                <a:ea typeface="Helvetica Neue"/>
                <a:cs typeface="Helvetica Neue"/>
              </a:defRPr>
            </a:defPPr>
          </a:lstStyle>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The cohort contains rated English scripted series from early index pages.</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Ratings are subjective and vote counts are unknown.</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Current channels may differ from original release metadata.</a:t>
            </a:r>
          </a:p>
          <a:p xmlns:a="http://schemas.openxmlformats.org/drawingml/2006/main">
            <a:pPr>
              <a:defRPr sz="2100" b="0">
                <a:solidFill>
                  <a:srgbClr val="253C47"/>
                </a:solidFill>
                <a:latin typeface="Helvetica Neue"/>
                <a:ea typeface="Helvetica Neue"/>
                <a:cs typeface="Helvetica Neue"/>
              </a:defRPr>
            </a:pPr>
            <a:r>
              <a:rPr sz="2100" b="0">
                <a:solidFill>
                  <a:srgbClr val="253C47"/>
                </a:solidFill>
                <a:latin typeface="Helvetica Neue"/>
                <a:ea typeface="Helvetica Neue"/>
                <a:cs typeface="Helvetica Neue"/>
              </a:rPr>
              <a:t>Performance on unrated or future series needs separate validation.</a:t>
            </a:r>
          </a:p>
        </p:txBody>
      </p:sp>
    </p:spTree>
    <p:extLst>
      <p:ext uri="{BB962C8B-B14F-4D97-AF65-F5344CB8AC3E}">
        <p14:creationId xmlns:p14="http://schemas.microsoft.com/office/powerpoint/2010/main" val="21212913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BCB4C67-1E51-43E1-90B7-2110DE80D2D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Continuation for Endterm and Final</a:t>
            </a:r>
          </a:p>
        </p:txBody>
      </p:sp>
      <p:sp>
        <p:nvSpPr>
          <p:cNvPr id="2" name="">
            <a:extLst xmlns:a="http://schemas.openxmlformats.org/drawingml/2006/main">
              <a:ext uri="{FF2B5EF4-FFF2-40B4-BE49-F238E27FC236}">
                <a16:creationId xmlns:a16="http://schemas.microsoft.com/office/drawing/2014/main" id="{5E6FA090-0C41-475C-A787-E3DC5E4DEC1A}"/>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8</a:t>
            </a:r>
          </a:p>
        </p:txBody>
      </p:sp>
      <p:graphicFrame>
        <p:nvGraphicFramePr>
          <p:cNvPr id="3" name="">
            <a:extLst xmlns:a="http://schemas.openxmlformats.org/drawingml/2006/main">
              <a:ext uri="{FF2B5EF4-FFF2-40B4-BE49-F238E27FC236}">
                <a16:creationId xmlns:a16="http://schemas.microsoft.com/office/drawing/2014/main" id="{1B74433A-C4C0-4309-A92B-D097F1E7E2C7}"/>
              </a:ext>
            </a:extLst>
          </p:cNvPr>
          <p:cNvGraphicFramePr/>
          <p:nvPr/>
        </p:nvGraphicFramePr>
        <p:xfrm>
          <a:off xmlns:a="http://schemas.openxmlformats.org/drawingml/2006/main" x="609600" y="1504950"/>
          <a:ext xmlns:a="http://schemas.openxmlformats.org/drawingml/2006/main" cx="10972800" cy="4267200"/>
        </p:xfrm>
        <a:graphic xmlns:a="http://schemas.openxmlformats.org/drawingml/2006/main">
          <a:graphicData uri="http://schemas.openxmlformats.org/drawingml/2006/table">
            <a:tbl>
              <a:tblPr/>
              <a:tblGrid>
                <a:gridCol w="2171700"/>
                <a:gridCol w="3238500"/>
                <a:gridCol w="5562600"/>
              </a:tblGrid>
              <a:tr h="853440">
                <a:tc>
                  <a:txBody>
                    <a:bodyPr/>
                    <a:lstStyle/>
                    <a:p>
                      <a:r>
                        <a:rPr sz="1800" b="1">
                          <a:solidFill>
                            <a:srgbClr val="FFFFFF"/>
                          </a:solidFill>
                          <a:latin typeface="Helvetica Neue"/>
                          <a:ea typeface="Helvetica Neue"/>
                          <a:cs typeface="Helvetica Neue"/>
                        </a:rPr>
                        <a:t>Course topic</a:t>
                      </a:r>
                    </a:p>
                  </a:txBody>
                  <a:tcPr marL="114300" marR="114300" marT="76200" marB="76200" anchor="ctr">
                    <a:solidFill>
                      <a:srgbClr val="18333E"/>
                    </a:solidFill>
                  </a:tcPr>
                </a:tc>
                <a:tc>
                  <a:txBody>
                    <a:bodyPr/>
                    <a:lstStyle/>
                    <a:p>
                      <a:r>
                        <a:rPr sz="1800" b="1">
                          <a:solidFill>
                            <a:srgbClr val="FFFFFF"/>
                          </a:solidFill>
                          <a:latin typeface="Helvetica Neue"/>
                          <a:ea typeface="Helvetica Neue"/>
                          <a:cs typeface="Helvetica Neue"/>
                        </a:rPr>
                        <a:t>Current weakness</a:t>
                      </a:r>
                    </a:p>
                  </a:txBody>
                  <a:tcPr marL="114300" marR="114300" marT="76200" marB="76200" anchor="ctr">
                    <a:solidFill>
                      <a:srgbClr val="18333E"/>
                    </a:solidFill>
                  </a:tcPr>
                </a:tc>
                <a:tc>
                  <a:txBody>
                    <a:bodyPr/>
                    <a:lstStyle/>
                    <a:p>
                      <a:r>
                        <a:rPr sz="1800" b="1">
                          <a:solidFill>
                            <a:srgbClr val="FFFFFF"/>
                          </a:solidFill>
                          <a:latin typeface="Helvetica Neue"/>
                          <a:ea typeface="Helvetica Neue"/>
                          <a:cs typeface="Helvetica Neue"/>
                        </a:rPr>
                        <a:t>Planned experiment</a:t>
                      </a:r>
                    </a:p>
                  </a:txBody>
                  <a:tcPr marL="114300" marR="114300" marT="76200" marB="76200" anchor="ctr">
                    <a:solidFill>
                      <a:srgbClr val="18333E"/>
                    </a:solidFill>
                  </a:tcPr>
                </a:tc>
              </a:tr>
              <a:tr h="853440">
                <a:tc>
                  <a:txBody>
                    <a:bodyPr/>
                    <a:lstStyle/>
                    <a:p>
                      <a:r>
                        <a:rPr sz="1800">
                          <a:solidFill>
                            <a:srgbClr val="253C47"/>
                          </a:solidFill>
                          <a:latin typeface="Helvetica Neue"/>
                          <a:ea typeface="Helvetica Neue"/>
                          <a:cs typeface="Helvetica Neue"/>
                        </a:rPr>
                        <a:t>Ensembles and tuning</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False positives and negatives</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Train-only tuning of Random Forest and Gradient Boosting on the frozen folds</a:t>
                      </a:r>
                    </a:p>
                  </a:txBody>
                  <a:tcPr marL="114300" marR="114300" marT="76200" marB="76200" anchor="ctr">
                    <a:solidFill>
                      <a:srgbClr val="FFFFFF"/>
                    </a:solidFill>
                  </a:tcPr>
                </a:tc>
              </a:tr>
              <a:tr h="853440">
                <a:tc>
                  <a:txBody>
                    <a:bodyPr/>
                    <a:lstStyle/>
                    <a:p>
                      <a:r>
                        <a:rPr sz="1800">
                          <a:solidFill>
                            <a:srgbClr val="253C47"/>
                          </a:solidFill>
                          <a:latin typeface="Helvetica Neue"/>
                          <a:ea typeface="Helvetica Neue"/>
                          <a:cs typeface="Helvetica Neue"/>
                        </a:rPr>
                        <a:t>PCA and clustering</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Overlapping metadata and uneven groups</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Training PCA and K-Means to inspect segments and describe errors</a:t>
                      </a:r>
                    </a:p>
                  </a:txBody>
                  <a:tcPr marL="114300" marR="114300" marT="76200" marB="76200" anchor="ctr">
                    <a:solidFill>
                      <a:srgbClr val="F0F5F7"/>
                    </a:solidFill>
                  </a:tcPr>
                </a:tc>
              </a:tr>
              <a:tr h="853440">
                <a:tc>
                  <a:txBody>
                    <a:bodyPr/>
                    <a:lstStyle/>
                    <a:p>
                      <a:r>
                        <a:rPr sz="1800">
                          <a:solidFill>
                            <a:srgbClr val="253C47"/>
                          </a:solidFill>
                          <a:latin typeface="Helvetica Neue"/>
                          <a:ea typeface="Helvetica Neue"/>
                          <a:cs typeface="Helvetica Neue"/>
                        </a:rPr>
                        <a:t>Neural network</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Limited interaction modelling</a:t>
                      </a:r>
                    </a:p>
                  </a:txBody>
                  <a:tcPr marL="114300" marR="114300" marT="76200" marB="76200" anchor="ctr">
                    <a:solidFill>
                      <a:srgbClr val="FFFFFF"/>
                    </a:solidFill>
                  </a:tcPr>
                </a:tc>
                <a:tc>
                  <a:txBody>
                    <a:bodyPr/>
                    <a:lstStyle/>
                    <a:p>
                      <a:r>
                        <a:rPr sz="1800">
                          <a:solidFill>
                            <a:srgbClr val="253C47"/>
                          </a:solidFill>
                          <a:latin typeface="Helvetica Neue"/>
                          <a:ea typeface="Helvetica Neue"/>
                          <a:cs typeface="Helvetica Neue"/>
                        </a:rPr>
                        <a:t>Small regularised MLP with early stopping and learning curves</a:t>
                      </a:r>
                    </a:p>
                  </a:txBody>
                  <a:tcPr marL="114300" marR="114300" marT="76200" marB="76200" anchor="ctr">
                    <a:solidFill>
                      <a:srgbClr val="FFFFFF"/>
                    </a:solidFill>
                  </a:tcPr>
                </a:tc>
              </a:tr>
              <a:tr h="853440">
                <a:tc>
                  <a:txBody>
                    <a:bodyPr/>
                    <a:lstStyle/>
                    <a:p>
                      <a:r>
                        <a:rPr sz="1800">
                          <a:solidFill>
                            <a:srgbClr val="253C47"/>
                          </a:solidFill>
                          <a:latin typeface="Helvetica Neue"/>
                          <a:ea typeface="Helvetica Neue"/>
                          <a:cs typeface="Helvetica Neue"/>
                        </a:rPr>
                        <a:t>Final text features</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No plot information in Midterm inputs</a:t>
                      </a:r>
                    </a:p>
                  </a:txBody>
                  <a:tcPr marL="114300" marR="114300" marT="76200" marB="76200" anchor="ctr">
                    <a:solidFill>
                      <a:srgbClr val="F0F5F7"/>
                    </a:solidFill>
                  </a:tcPr>
                </a:tc>
                <a:tc>
                  <a:txBody>
                    <a:bodyPr/>
                    <a:lstStyle/>
                    <a:p>
                      <a:r>
                        <a:rPr sz="1800">
                          <a:solidFill>
                            <a:srgbClr val="253C47"/>
                          </a:solidFill>
                          <a:latin typeface="Helvetica Neue"/>
                          <a:ea typeface="Helvetica Neue"/>
                          <a:cs typeface="Helvetica Neue"/>
                        </a:rPr>
                        <a:t>TF-IDF or embeddings plus metadata, then a local app and report</a:t>
                      </a:r>
                    </a:p>
                  </a:txBody>
                  <a:tcPr marL="114300" marR="11430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2886B46E-8323-4B6B-98B9-6472F4401AC8}"/>
              </a:ext>
            </a:extLst>
          </p:cNvPr>
          <p:cNvSpPr>
            <a:spLocks xmlns:a="http://schemas.openxmlformats.org/drawingml/2006/main" noGrp="1"/>
          </p:cNvSpPr>
          <p:nvPr/>
        </p:nvSpPr>
        <p:spPr>
          <a:xfrm xmlns:a="http://schemas.openxmlformats.org/drawingml/2006/main">
            <a:off x="609600" y="6010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146C94"/>
                </a:solidFill>
                <a:latin typeface="Helvetica Neue"/>
                <a:ea typeface="Helvetica Neue"/>
                <a:cs typeface="Helvetica Neue"/>
              </a:defRPr>
            </a:defPPr>
          </a:lstStyle>
          <a:p xmlns:a="http://schemas.openxmlformats.org/drawingml/2006/main">
            <a:pPr>
              <a:defRPr sz="1950" b="1">
                <a:solidFill>
                  <a:srgbClr val="146C94"/>
                </a:solidFill>
                <a:latin typeface="Helvetica Neue"/>
                <a:ea typeface="Helvetica Neue"/>
                <a:cs typeface="Helvetica Neue"/>
              </a:defRPr>
            </a:pPr>
            <a:r>
              <a:rPr sz="1950" b="1">
                <a:solidFill>
                  <a:srgbClr val="146C94"/>
                </a:solidFill>
                <a:latin typeface="Helvetica Neue"/>
                <a:ea typeface="Helvetica Neue"/>
                <a:cs typeface="Helvetica Neue"/>
              </a:rPr>
              <a:t>Same 2,339 objects, 8/10 target and frozen test IDs for every stage</a:t>
            </a:r>
          </a:p>
        </p:txBody>
      </p:sp>
    </p:spTree>
    <p:extLst>
      <p:ext uri="{BB962C8B-B14F-4D97-AF65-F5344CB8AC3E}">
        <p14:creationId xmlns:p14="http://schemas.microsoft.com/office/powerpoint/2010/main" val="16729931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1FDFE37A-5F83-4D1F-BC7A-A3D1A057E478}"/>
              </a:ext>
            </a:extLst>
          </p:cNvPr>
          <p:cNvSpPr>
            <a:spLocks xmlns:a="http://schemas.openxmlformats.org/drawingml/2006/main" noGrp="1"/>
          </p:cNvSpPr>
          <p:nvPr/>
        </p:nvSpPr>
        <p:spPr>
          <a:xfrm xmlns:a="http://schemas.openxmlformats.org/drawingml/2006/main">
            <a:off x="609600" y="4000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8333E"/>
                </a:solidFill>
                <a:latin typeface="Helvetica Neue"/>
                <a:ea typeface="Helvetica Neue"/>
                <a:cs typeface="Helvetica Neue"/>
              </a:defRPr>
            </a:defPPr>
          </a:lstStyle>
          <a:p xmlns:a="http://schemas.openxmlformats.org/drawingml/2006/main">
            <a:pPr>
              <a:defRPr sz="3300" b="1">
                <a:solidFill>
                  <a:srgbClr val="18333E"/>
                </a:solidFill>
                <a:latin typeface="Helvetica Neue"/>
                <a:ea typeface="Helvetica Neue"/>
                <a:cs typeface="Helvetica Neue"/>
              </a:defRPr>
            </a:pPr>
            <a:r>
              <a:rPr sz="3300" b="1">
                <a:solidFill>
                  <a:srgbClr val="18333E"/>
                </a:solidFill>
                <a:latin typeface="Helvetica Neue"/>
                <a:ea typeface="Helvetica Neue"/>
                <a:cs typeface="Helvetica Neue"/>
              </a:rPr>
              <a:t>Team responsibilities and AI use</a:t>
            </a:r>
          </a:p>
        </p:txBody>
      </p:sp>
      <p:sp>
        <p:nvSpPr>
          <p:cNvPr id="2" name="">
            <a:extLst xmlns:a="http://schemas.openxmlformats.org/drawingml/2006/main">
              <a:ext uri="{FF2B5EF4-FFF2-40B4-BE49-F238E27FC236}">
                <a16:creationId xmlns:a16="http://schemas.microsoft.com/office/drawing/2014/main" id="{0D8CC9F7-8EC1-4459-920C-B55A28CC548F}"/>
              </a:ext>
            </a:extLst>
          </p:cNvPr>
          <p:cNvSpPr>
            <a:spLocks xmlns:a="http://schemas.openxmlformats.org/drawingml/2006/main" noGrp="1"/>
          </p:cNvSpPr>
          <p:nvPr/>
        </p:nvSpPr>
        <p:spPr>
          <a:xfrm xmlns:a="http://schemas.openxmlformats.org/drawingml/2006/main">
            <a:off x="11382375" y="6391275"/>
            <a:ext cx="342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5A6D76"/>
                </a:solidFill>
                <a:latin typeface="Helvetica Neue"/>
                <a:ea typeface="Helvetica Neue"/>
                <a:cs typeface="Helvetica Neue"/>
              </a:defRPr>
            </a:defPPr>
          </a:lstStyle>
          <a:p xmlns:a="http://schemas.openxmlformats.org/drawingml/2006/main">
            <a:pPr>
              <a:defRPr sz="1350" b="0">
                <a:solidFill>
                  <a:srgbClr val="5A6D76"/>
                </a:solidFill>
                <a:latin typeface="Helvetica Neue"/>
                <a:ea typeface="Helvetica Neue"/>
                <a:cs typeface="Helvetica Neue"/>
              </a:defRPr>
            </a:pPr>
            <a:r>
              <a:rPr sz="1350" b="0">
                <a:solidFill>
                  <a:srgbClr val="5A6D76"/>
                </a:solidFill>
                <a:latin typeface="Helvetica Neue"/>
                <a:ea typeface="Helvetica Neue"/>
                <a:cs typeface="Helvetica Neue"/>
              </a:rPr>
              <a:t>9</a:t>
            </a:r>
          </a:p>
        </p:txBody>
      </p:sp>
      <p:sp>
        <p:nvSpPr>
          <p:cNvPr id="3" name="">
            <a:extLst xmlns:a="http://schemas.openxmlformats.org/drawingml/2006/main">
              <a:ext uri="{FF2B5EF4-FFF2-40B4-BE49-F238E27FC236}">
                <a16:creationId xmlns:a16="http://schemas.microsoft.com/office/drawing/2014/main" id="{5561B748-41F9-446E-9705-45EB67F1632E}"/>
              </a:ext>
            </a:extLst>
          </p:cNvPr>
          <p:cNvSpPr>
            <a:spLocks xmlns:a="http://schemas.openxmlformats.org/drawingml/2006/main" noGrp="1"/>
          </p:cNvSpPr>
          <p:nvPr/>
        </p:nvSpPr>
        <p:spPr>
          <a:xfrm xmlns:a="http://schemas.openxmlformats.org/drawingml/2006/main">
            <a:off x="609600" y="16383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46C94"/>
                </a:solidFill>
                <a:latin typeface="Helvetica Neue"/>
                <a:ea typeface="Helvetica Neue"/>
                <a:cs typeface="Helvetica Neue"/>
              </a:defRPr>
            </a:defPPr>
          </a:lstStyle>
          <a:p xmlns:a="http://schemas.openxmlformats.org/drawingml/2006/main">
            <a:pPr>
              <a:defRPr sz="2400" b="1">
                <a:solidFill>
                  <a:srgbClr val="146C94"/>
                </a:solidFill>
                <a:latin typeface="Helvetica Neue"/>
                <a:ea typeface="Helvetica Neue"/>
                <a:cs typeface="Helvetica Neue"/>
              </a:defRPr>
            </a:pPr>
            <a:r>
              <a:rPr sz="2400" b="1">
                <a:solidFill>
                  <a:srgbClr val="146C94"/>
                </a:solidFill>
                <a:latin typeface="Helvetica Neue"/>
                <a:ea typeface="Helvetica Neue"/>
                <a:cs typeface="Helvetica Neue"/>
              </a:rPr>
              <a:t>Bekzat Rashiduly</a:t>
            </a:r>
          </a:p>
        </p:txBody>
      </p:sp>
      <p:sp>
        <p:nvSpPr>
          <p:cNvPr id="4" name="">
            <a:extLst xmlns:a="http://schemas.openxmlformats.org/drawingml/2006/main">
              <a:ext uri="{FF2B5EF4-FFF2-40B4-BE49-F238E27FC236}">
                <a16:creationId xmlns:a16="http://schemas.microsoft.com/office/drawing/2014/main" id="{AFB28F63-BDF7-4E07-8F86-C88D9424FCA3}"/>
              </a:ext>
            </a:extLst>
          </p:cNvPr>
          <p:cNvSpPr>
            <a:spLocks xmlns:a="http://schemas.openxmlformats.org/drawingml/2006/main" noGrp="1"/>
          </p:cNvSpPr>
          <p:nvPr/>
        </p:nvSpPr>
        <p:spPr>
          <a:xfrm xmlns:a="http://schemas.openxmlformats.org/drawingml/2006/main">
            <a:off x="609600" y="2266950"/>
            <a:ext cx="53340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253C47"/>
                </a:solidFill>
                <a:latin typeface="Helvetica Neue"/>
                <a:ea typeface="Helvetica Neue"/>
                <a:cs typeface="Helvetica Neue"/>
              </a:defRPr>
            </a:defPPr>
          </a:lstStyle>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Data and source checks</a:t>
            </a:r>
          </a:p>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Model workflow</a:t>
            </a:r>
          </a:p>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Results and error analysis</a:t>
            </a:r>
          </a:p>
        </p:txBody>
      </p:sp>
      <p:sp>
        <p:nvSpPr>
          <p:cNvPr id="5" name="">
            <a:extLst xmlns:a="http://schemas.openxmlformats.org/drawingml/2006/main">
              <a:ext uri="{FF2B5EF4-FFF2-40B4-BE49-F238E27FC236}">
                <a16:creationId xmlns:a16="http://schemas.microsoft.com/office/drawing/2014/main" id="{41BC96B1-0DB4-45F3-994D-F8FF9F6AEB41}"/>
              </a:ext>
            </a:extLst>
          </p:cNvPr>
          <p:cNvSpPr>
            <a:spLocks xmlns:a="http://schemas.openxmlformats.org/drawingml/2006/main" noGrp="1"/>
          </p:cNvSpPr>
          <p:nvPr/>
        </p:nvSpPr>
        <p:spPr>
          <a:xfrm xmlns:a="http://schemas.openxmlformats.org/drawingml/2006/main">
            <a:off x="6610350" y="1638300"/>
            <a:ext cx="497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46C94"/>
                </a:solidFill>
                <a:latin typeface="Helvetica Neue"/>
                <a:ea typeface="Helvetica Neue"/>
                <a:cs typeface="Helvetica Neue"/>
              </a:defRPr>
            </a:defPPr>
          </a:lstStyle>
          <a:p xmlns:a="http://schemas.openxmlformats.org/drawingml/2006/main">
            <a:pPr>
              <a:defRPr sz="2400" b="1">
                <a:solidFill>
                  <a:srgbClr val="146C94"/>
                </a:solidFill>
                <a:latin typeface="Helvetica Neue"/>
                <a:ea typeface="Helvetica Neue"/>
                <a:cs typeface="Helvetica Neue"/>
              </a:defRPr>
            </a:pPr>
            <a:r>
              <a:rPr sz="2400" b="1">
                <a:solidFill>
                  <a:srgbClr val="146C94"/>
                </a:solidFill>
                <a:latin typeface="Helvetica Neue"/>
                <a:ea typeface="Helvetica Neue"/>
                <a:cs typeface="Helvetica Neue"/>
              </a:rPr>
              <a:t>Gapar Galym</a:t>
            </a:r>
          </a:p>
        </p:txBody>
      </p:sp>
      <p:sp>
        <p:nvSpPr>
          <p:cNvPr id="6" name="">
            <a:extLst xmlns:a="http://schemas.openxmlformats.org/drawingml/2006/main">
              <a:ext uri="{FF2B5EF4-FFF2-40B4-BE49-F238E27FC236}">
                <a16:creationId xmlns:a16="http://schemas.microsoft.com/office/drawing/2014/main" id="{C7F3E2F3-89A4-4417-947F-1317B02A4028}"/>
              </a:ext>
            </a:extLst>
          </p:cNvPr>
          <p:cNvSpPr>
            <a:spLocks xmlns:a="http://schemas.openxmlformats.org/drawingml/2006/main" noGrp="1"/>
          </p:cNvSpPr>
          <p:nvPr/>
        </p:nvSpPr>
        <p:spPr>
          <a:xfrm xmlns:a="http://schemas.openxmlformats.org/drawingml/2006/main">
            <a:off x="6610350" y="2266950"/>
            <a:ext cx="49720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253C47"/>
                </a:solidFill>
                <a:latin typeface="Helvetica Neue"/>
                <a:ea typeface="Helvetica Neue"/>
                <a:cs typeface="Helvetica Neue"/>
              </a:defRPr>
            </a:defPPr>
          </a:lstStyle>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Data preparation and exploration</a:t>
            </a:r>
          </a:p>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Presentation preparation</a:t>
            </a:r>
          </a:p>
          <a:p xmlns:a="http://schemas.openxmlformats.org/drawingml/2006/main">
            <a:pPr>
              <a:defRPr sz="2250" b="0">
                <a:solidFill>
                  <a:srgbClr val="253C47"/>
                </a:solidFill>
                <a:latin typeface="Helvetica Neue"/>
                <a:ea typeface="Helvetica Neue"/>
                <a:cs typeface="Helvetica Neue"/>
              </a:defRPr>
            </a:pPr>
            <a:r>
              <a:rPr sz="2250" b="0">
                <a:solidFill>
                  <a:srgbClr val="253C47"/>
                </a:solidFill>
                <a:latin typeface="Helvetica Neue"/>
                <a:ea typeface="Helvetica Neue"/>
                <a:cs typeface="Helvetica Neue"/>
              </a:rPr>
              <a:t>Presentation delivery</a:t>
            </a:r>
          </a:p>
        </p:txBody>
      </p:sp>
      <p:sp>
        <p:nvSpPr>
          <p:cNvPr id="7" name="">
            <a:extLst xmlns:a="http://schemas.openxmlformats.org/drawingml/2006/main">
              <a:ext uri="{FF2B5EF4-FFF2-40B4-BE49-F238E27FC236}">
                <a16:creationId xmlns:a16="http://schemas.microsoft.com/office/drawing/2014/main" id="{FAFADD27-50A8-43F5-AEC7-92166C9651E9}"/>
              </a:ext>
            </a:extLst>
          </p:cNvPr>
          <p:cNvSpPr>
            <a:spLocks xmlns:a="http://schemas.openxmlformats.org/drawingml/2006/main" noGrp="1"/>
          </p:cNvSpPr>
          <p:nvPr/>
        </p:nvSpPr>
        <p:spPr>
          <a:xfrm xmlns:a="http://schemas.openxmlformats.org/drawingml/2006/main">
            <a:off x="609600" y="43338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253C47"/>
                </a:solidFill>
                <a:latin typeface="Helvetica Neue"/>
                <a:ea typeface="Helvetica Neue"/>
                <a:cs typeface="Helvetica Neue"/>
              </a:defRPr>
            </a:defPPr>
          </a:lstStyle>
          <a:p xmlns:a="http://schemas.openxmlformats.org/drawingml/2006/main">
            <a:pPr>
              <a:defRPr sz="2100" b="1">
                <a:solidFill>
                  <a:srgbClr val="253C47"/>
                </a:solidFill>
                <a:latin typeface="Helvetica Neue"/>
                <a:ea typeface="Helvetica Neue"/>
                <a:cs typeface="Helvetica Neue"/>
              </a:defRPr>
            </a:pPr>
            <a:r>
              <a:rPr sz="2100" b="1">
                <a:solidFill>
                  <a:srgbClr val="253C47"/>
                </a:solidFill>
                <a:latin typeface="Helvetica Neue"/>
                <a:ea typeface="Helvetica Neue"/>
                <a:cs typeface="Helvetica Neue"/>
              </a:rPr>
              <a:t>Both members review the full project and answer questions about every stage.</a:t>
            </a:r>
          </a:p>
        </p:txBody>
      </p:sp>
      <p:sp>
        <p:nvSpPr>
          <p:cNvPr id="8" name="">
            <a:extLst xmlns:a="http://schemas.openxmlformats.org/drawingml/2006/main">
              <a:ext uri="{FF2B5EF4-FFF2-40B4-BE49-F238E27FC236}">
                <a16:creationId xmlns:a16="http://schemas.microsoft.com/office/drawing/2014/main" id="{31D99B42-B29B-4FB2-83AC-4867235AF674}"/>
              </a:ext>
            </a:extLst>
          </p:cNvPr>
          <p:cNvSpPr>
            <a:spLocks xmlns:a="http://schemas.openxmlformats.org/drawingml/2006/main" noGrp="1"/>
          </p:cNvSpPr>
          <p:nvPr/>
        </p:nvSpPr>
        <p:spPr>
          <a:xfrm xmlns:a="http://schemas.openxmlformats.org/drawingml/2006/main">
            <a:off x="609600" y="531495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A6D76"/>
                </a:solidFill>
                <a:latin typeface="Helvetica Neue"/>
                <a:ea typeface="Helvetica Neue"/>
                <a:cs typeface="Helvetica Neue"/>
              </a:defRPr>
            </a:defPPr>
          </a:lstStyle>
          <a:p xmlns:a="http://schemas.openxmlformats.org/drawingml/2006/main">
            <a:pPr>
              <a:defRPr sz="1950" b="0">
                <a:solidFill>
                  <a:srgbClr val="5A6D76"/>
                </a:solidFill>
                <a:latin typeface="Helvetica Neue"/>
                <a:ea typeface="Helvetica Neue"/>
                <a:cs typeface="Helvetica Neue"/>
              </a:defRPr>
            </a:pPr>
            <a:r>
              <a:rPr sz="1950" b="0">
                <a:solidFill>
                  <a:srgbClr val="5A6D76"/>
                </a:solidFill>
                <a:latin typeface="Helvetica Neue"/>
                <a:ea typeface="Helvetica Neue"/>
                <a:cs typeface="Helvetica Neue"/>
              </a:rPr>
              <a:t>OpenAI Codex assisted with research, code, notebook, experiments,</a:t>
            </a:r>
          </a:p>
          <a:p xmlns:a="http://schemas.openxmlformats.org/drawingml/2006/main">
            <a:pPr>
              <a:defRPr sz="1950" b="0">
                <a:solidFill>
                  <a:srgbClr val="5A6D76"/>
                </a:solidFill>
                <a:latin typeface="Helvetica Neue"/>
                <a:ea typeface="Helvetica Neue"/>
                <a:cs typeface="Helvetica Neue"/>
              </a:defRPr>
            </a:pPr>
            <a:r>
              <a:rPr sz="1950" b="0">
                <a:solidFill>
                  <a:srgbClr val="5A6D76"/>
                </a:solidFill>
                <a:latin typeface="Helvetica Neue"/>
                <a:ea typeface="Helvetica Neue"/>
                <a:cs typeface="Helvetica Neue"/>
              </a:rPr>
              <a:t>slide drafting and checks. Full disclosure appears in the notebook.</a:t>
            </a:r>
          </a:p>
        </p:txBody>
      </p:sp>
    </p:spTree>
    <p:extLst>
      <p:ext uri="{BB962C8B-B14F-4D97-AF65-F5344CB8AC3E}">
        <p14:creationId xmlns:p14="http://schemas.microsoft.com/office/powerpoint/2010/main" val="7325702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2026-10-06T07:18:57.2600000Z</dcterms:created>
  <dcterms:modified xsi:type="dcterms:W3CDTF">2026-10-06T07:18:57.2600000Z</dcterms:modified>
</coreProperties>
</file>